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1" r:id="rId4"/>
    <p:sldId id="257" r:id="rId5"/>
    <p:sldId id="263" r:id="rId6"/>
    <p:sldId id="269" r:id="rId7"/>
    <p:sldId id="262" r:id="rId8"/>
    <p:sldId id="275" r:id="rId9"/>
    <p:sldId id="272" r:id="rId10"/>
    <p:sldId id="270" r:id="rId11"/>
    <p:sldId id="276" r:id="rId12"/>
    <p:sldId id="277" r:id="rId13"/>
    <p:sldId id="274" r:id="rId14"/>
    <p:sldId id="278" r:id="rId15"/>
    <p:sldId id="268" r:id="rId16"/>
    <p:sldId id="260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8A05E"/>
    <a:srgbClr val="FAE794"/>
    <a:srgbClr val="F7B8A7"/>
    <a:srgbClr val="430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91" autoAdjust="0"/>
    <p:restoredTop sz="97486" autoAdjust="0"/>
  </p:normalViewPr>
  <p:slideViewPr>
    <p:cSldViewPr snapToGrid="0">
      <p:cViewPr>
        <p:scale>
          <a:sx n="70" d="100"/>
          <a:sy n="70" d="100"/>
        </p:scale>
        <p:origin x="78" y="20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F4112D-D06C-42E7-9A25-7F8F66E6ADC2}" type="datetimeFigureOut">
              <a:rPr lang="es-MX" smtClean="0"/>
              <a:t>04/06/2026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DDE457-33EE-4BD5-9BB5-D63971FF618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69557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E457-33EE-4BD5-9BB5-D63971FF618E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8453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Son un conjunto diverso de 20 condiciones causadas por diferentes patógenos, ya sean virus, bacterias, parásitos, hongos e incluso toxinas que afectan al menos a mil millones de personas a nivel global.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Su epidemiología es compleja debido a que los ciclos de transmisión están sujetos a la influencia de las condiciones ambientales, socioeconómicas y a ciclos que involucran a diversos hospederos</a:t>
            </a:r>
            <a:endParaRPr lang="es-MX" dirty="0"/>
          </a:p>
          <a:p>
            <a:r>
              <a:rPr lang="es-MX" dirty="0"/>
              <a:t>- Las </a:t>
            </a:r>
            <a:r>
              <a:rPr lang="es-MX" dirty="0" err="1"/>
              <a:t>NTDs</a:t>
            </a:r>
            <a:r>
              <a:rPr lang="es-MX" dirty="0"/>
              <a:t> 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afectan al menos a mil millones, </a:t>
            </a:r>
            <a:r>
              <a:rPr lang="es-MX" dirty="0"/>
              <a:t>causan aproximadamente 120,000 muertes y 14.1 millones de DALYs perdidos al año.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E457-33EE-4BD5-9BB5-D63971FF618E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9225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F8591-FB28-7706-6B5E-1E6AD0C4A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A26F47-FF80-CFBA-F9D8-C329E3F7C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E65F64-27A3-6528-A57F-4A92CBCDF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Las </a:t>
            </a:r>
            <a:r>
              <a:rPr lang="es-MX" dirty="0" err="1"/>
              <a:t>NTDs</a:t>
            </a:r>
            <a:r>
              <a:rPr lang="es-MX" dirty="0"/>
              <a:t> causan aproximadamente 120,000 muertes y 14.1 millones de DALYs perdidos al año. </a:t>
            </a:r>
          </a:p>
          <a:p>
            <a:endParaRPr lang="es-MX" dirty="0"/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Particularmente en el caso de las </a:t>
            </a:r>
            <a:r>
              <a:rPr lang="es-MX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NTDs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el cálculo de los DALYs presenta limitaciones, puesto que estas enfermedades no se caracterizan por ser mortales, sino por largos periodos de sufrimiento y suelen derivar en discapacidades como ceguera, incapacidad total o parcial. Por lo tanto, la cronicidad derivada de las infecciones no se dimensiona adecuadamente a través de este índice, lo que implica que las cargas asociadas reportadas probablemente son más bajas de lo que en realidad son.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FEB0D-DE6F-5623-200A-CA2EEB972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E457-33EE-4BD5-9BB5-D63971FF618E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110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El cambio global ha impuesto nuevos retos para la eliminación de estas enfermedades, ya sea por la alteración de los patrones climáticos y el favorecimiento de los ciclos de vida de vectores y reservorios; propiciando eventos de desplazamiento de poblaciones humanas; aumentando los rangos geográficos fuera de las zonas tropicales y subtropicales del planeta; o intensificando eventos que deriven en la exacerbación de estas enfermedades al dañar la infraestructura sanitaria</a:t>
            </a:r>
          </a:p>
          <a:p>
            <a:endParaRPr lang="es-MX" dirty="0"/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E457-33EE-4BD5-9BB5-D63971FF618E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1637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conjunto </a:t>
            </a:r>
            <a:r>
              <a:rPr lang="en-US" dirty="0" err="1"/>
              <a:t>princiopal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proviene</a:t>
            </a:r>
            <a:r>
              <a:rPr lang="en-US" dirty="0"/>
              <a:t> de la OMS. </a:t>
            </a:r>
          </a:p>
          <a:p>
            <a:r>
              <a:rPr lang="en-US" dirty="0"/>
              <a:t>Cada hoja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grupo</a:t>
            </a:r>
            <a:r>
              <a:rPr lang="en-US" dirty="0"/>
              <a:t> </a:t>
            </a:r>
            <a:r>
              <a:rPr lang="en-US" dirty="0" err="1"/>
              <a:t>etario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661 </a:t>
            </a:r>
            <a:r>
              <a:rPr lang="en-US" dirty="0" err="1"/>
              <a:t>hileras</a:t>
            </a:r>
            <a:r>
              <a:rPr lang="en-US" dirty="0"/>
              <a:t> y 189 columnas.</a:t>
            </a:r>
          </a:p>
          <a:p>
            <a:r>
              <a:rPr lang="en-US" dirty="0"/>
              <a:t>Global Data Lab -&gt; se </a:t>
            </a:r>
            <a:r>
              <a:rPr lang="en-US" dirty="0" err="1"/>
              <a:t>obtuvieron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para las </a:t>
            </a:r>
            <a:r>
              <a:rPr lang="en-US" dirty="0" err="1"/>
              <a:t>siguientes</a:t>
            </a:r>
            <a:r>
              <a:rPr lang="en-US" dirty="0"/>
              <a:t> variables.</a:t>
            </a:r>
          </a:p>
          <a:p>
            <a:r>
              <a:rPr lang="en-US" dirty="0"/>
              <a:t>- Se </a:t>
            </a:r>
            <a:r>
              <a:rPr lang="en-US" dirty="0" err="1"/>
              <a:t>muestran</a:t>
            </a:r>
            <a:r>
              <a:rPr lang="en-US" dirty="0"/>
              <a:t> las </a:t>
            </a:r>
            <a:r>
              <a:rPr lang="en-US" dirty="0" err="1"/>
              <a:t>unidades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las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miden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para </a:t>
            </a:r>
            <a:r>
              <a:rPr lang="en-US" dirty="0" err="1"/>
              <a:t>cada</a:t>
            </a:r>
            <a:r>
              <a:rPr lang="en-US" dirty="0"/>
              <a:t> uno.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E457-33EE-4BD5-9BB5-D63971FF618E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2402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DDB3E-F3A2-6E7B-6CA2-A9EDCE11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E6AFC-034D-8CB0-3DF0-383F303A6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CABF4-0498-3449-9071-1DEE1F7BA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MANEJO DE DATOS</a:t>
            </a:r>
          </a:p>
          <a:p>
            <a:pPr lvl="0"/>
            <a:endParaRPr lang="es-MX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Objetivos de la limpieza de datos:</a:t>
            </a:r>
            <a:endParaRPr lang="en-GB" sz="14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Remodelar y limpiar el conjunto de datos de DALYs por país, año y sexo.</a:t>
            </a:r>
            <a:endParaRPr lang="en-GB" sz="14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Conseguir un formato </a:t>
            </a:r>
            <a:r>
              <a:rPr lang="es-MX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tidy data</a:t>
            </a: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GB" sz="14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Conseguir variables informativas a partir del conjunto de datos.</a:t>
            </a:r>
            <a:endParaRPr lang="en-GB" sz="14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FAC85-F579-04E2-2B17-67699B4C3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DE457-33EE-4BD5-9BB5-D63971FF618E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4109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92347-9B15-CD4F-F9E7-E5A5FCE28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A220DF-CF5D-CBED-9CE1-53C3FDFD3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130EF-75D7-46BA-48F3-59626690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0AAFA-76BE-4F14-AD8F-1DF2F2E80D8A}" type="datetime1">
              <a:rPr lang="es-MX" smtClean="0"/>
              <a:t>04/06/2026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B6F3D-9D68-CFF9-E2B0-C53B3E54F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9E976-5F08-1CB1-2EA4-C73664373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3475971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2884C-17A4-B196-33DF-3774FC103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22DBF-CEE9-2DAE-FA95-6C6F4EA83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CE2AA-B08E-CA78-C195-B14CAC242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BBE7-5794-4014-A38B-478C6FE24DAC}" type="datetime1">
              <a:rPr lang="es-MX" smtClean="0"/>
              <a:t>04/06/2026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53EFD-6E95-EDD1-0AC5-5EBE44336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1EF3A-06CA-082A-4BDD-2CDB25F42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7929649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E74DC-0BCF-753B-2D69-2D0754CBA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56630-D0FC-7D02-4322-742B209E7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478D9-D8FF-AB07-A7D1-BF36361CB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DBD3C-4232-47DD-B995-E7336D812CD3}" type="datetime1">
              <a:rPr lang="es-MX" smtClean="0"/>
              <a:t>04/06/2026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287FD-7A00-1B48-3F3F-C34A50514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92EAA-CD7F-728D-EC86-499AEAB00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9135249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991C1-4186-6F71-BBE4-E3FF676D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C740D-81BF-449B-2775-A490E3307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FA6EB-2F58-9114-01FD-C8DF4FC66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3F5FF-EEE6-3B1D-DFC8-902149C6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FBAD-8DFB-4829-BF0E-A8D113F6C00B}" type="datetime1">
              <a:rPr lang="es-MX" smtClean="0"/>
              <a:t>04/06/2026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B935A-9217-81E0-84F8-84B8D18CD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C4AF3-9377-2431-0F22-98A2CFBAA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4272793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14FBB-590B-B104-DB98-9DD6545C0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3B5BC-3972-8ABC-27DB-B8DD050E2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B20E6-D6E9-A0D7-7322-5819F268F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A6975B-EEEB-9937-5026-EC3920D8D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B1435-429D-CB87-9C00-9CF1DB98FD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15CCEE-0025-8638-4E9C-B2027DF8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3A-43C6-42CF-A588-1D8CDB6B0EA6}" type="datetime1">
              <a:rPr lang="es-MX" smtClean="0"/>
              <a:t>04/06/2026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D731EF-FAF6-9E70-5EF8-6B32B071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3532A-8344-E890-66CA-E21BF817E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337212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D333-9ECB-4721-6FFE-575FAE9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AA62D-7A84-D1AD-6798-4CE200A4B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2D66D-AEC5-4C6E-B3E4-BDDF12A3A1F5}" type="datetime1">
              <a:rPr lang="es-MX" smtClean="0"/>
              <a:t>04/06/2026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44895E-8400-0D3E-B077-9132E5543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57B68-2629-88E6-CDAE-44B0FC97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1526719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0B038D-E4DB-D8A2-0797-B597C531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70DA-6044-4551-80BC-CE0273254A7D}" type="datetime1">
              <a:rPr lang="es-MX" smtClean="0"/>
              <a:t>04/06/2026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B1C4D2-0D26-263B-58B2-C7C6DFF6D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7512E-DB70-EC0B-9722-118B4523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4126784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42D4-4A9C-E741-6B90-FAEEC0D3A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E889A-A9BF-4068-D3D5-AEFFAB9C9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8BE44-1462-E36C-DAB0-66CC65C81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E797E-BB9E-CB42-123A-AF9CA4EBC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94CC3-81D2-4282-A7C3-7AE157D0FE4C}" type="datetime1">
              <a:rPr lang="es-MX" smtClean="0"/>
              <a:t>04/06/2026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4CD2C-17FC-FEAE-E347-BAA67D503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8F40B-550A-E38E-9FC4-B734BF7C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3752536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7EE97-CE7F-9146-E6B7-CDF9DE228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32CB8E-A113-F2B2-7821-8F155E8E5A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7972E-AB7C-A11E-A16D-8B172F7B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A72FA-3DF0-44DC-97EB-3E6C06386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474BF-308B-495F-B834-21E67717CCAE}" type="datetime1">
              <a:rPr lang="es-MX" smtClean="0"/>
              <a:t>04/06/2026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B593A-566A-06CA-BE16-CE7911DF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C62F6-287A-AA85-CA04-E1DE49AA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1602252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C1C4-E466-5C99-7856-20F4F353F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1CFF6-C2D6-4DC8-2917-11142AA82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79A22-63E9-474D-DF1E-7C0E1F12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5265-E7B5-4535-A783-CE6216642B18}" type="datetime1">
              <a:rPr lang="es-MX" smtClean="0"/>
              <a:t>04/06/2026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A47D7-AF7F-1DBF-A543-1C7B532D0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0029E-3D58-CB50-21B2-642B548A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488128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8F604-A05F-7BFA-AC90-8713C3CB2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596AA6-8D59-19DC-96AE-65831D919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AC192-0A2A-D5E6-6085-DE615631A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026AB-D922-4564-8C8E-BE2C8541606D}" type="datetime1">
              <a:rPr lang="es-MX" smtClean="0"/>
              <a:t>04/06/2026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EA76E-CF71-A81A-614C-A379EF90B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D841D-955A-467F-CA72-234DCF831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845344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975176-AA0E-3238-F293-F0ACAFF27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60CFA-DA54-2173-C975-67CF0578C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C559D-D2FF-0915-6EB0-4DEEAB836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30D7A-78FB-4508-B93A-B3B85738DA0B}" type="datetime1">
              <a:rPr lang="es-MX" smtClean="0"/>
              <a:t>04/06/2026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D957B-E2E6-CB50-44A1-FBABB01D6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6F972-EF3D-4827-1A98-29F7BE6B6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A8AB19-EA94-4568-B8B9-4C0E0503AB0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8423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jpe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2C5E93-9D6D-8AA2-0EB9-F84744E95876}"/>
              </a:ext>
            </a:extLst>
          </p:cNvPr>
          <p:cNvSpPr/>
          <p:nvPr/>
        </p:nvSpPr>
        <p:spPr>
          <a:xfrm>
            <a:off x="219075" y="200026"/>
            <a:ext cx="11725275" cy="6438900"/>
          </a:xfrm>
          <a:custGeom>
            <a:avLst/>
            <a:gdLst>
              <a:gd name="csX0" fmla="*/ 0 w 11725275"/>
              <a:gd name="csY0" fmla="*/ 0 h 6438900"/>
              <a:gd name="csX1" fmla="*/ 11725275 w 11725275"/>
              <a:gd name="csY1" fmla="*/ 0 h 6438900"/>
              <a:gd name="csX2" fmla="*/ 11725275 w 11725275"/>
              <a:gd name="csY2" fmla="*/ 6438900 h 6438900"/>
              <a:gd name="csX3" fmla="*/ 0 w 11725275"/>
              <a:gd name="csY3" fmla="*/ 6438900 h 6438900"/>
              <a:gd name="csX4" fmla="*/ 0 w 11725275"/>
              <a:gd name="csY4" fmla="*/ 0 h 643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25275" h="6438900" extrusionOk="0">
                <a:moveTo>
                  <a:pt x="0" y="0"/>
                </a:moveTo>
                <a:cubicBezTo>
                  <a:pt x="3399955" y="-92938"/>
                  <a:pt x="9971035" y="-73857"/>
                  <a:pt x="11725275" y="0"/>
                </a:cubicBezTo>
                <a:cubicBezTo>
                  <a:pt x="11797118" y="1589663"/>
                  <a:pt x="11880976" y="5521985"/>
                  <a:pt x="11725275" y="6438900"/>
                </a:cubicBezTo>
                <a:cubicBezTo>
                  <a:pt x="9122253" y="6477114"/>
                  <a:pt x="5766231" y="6525681"/>
                  <a:pt x="0" y="6438900"/>
                </a:cubicBezTo>
                <a:cubicBezTo>
                  <a:pt x="-79000" y="4482847"/>
                  <a:pt x="77204" y="117320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430E02"/>
            </a:solidFill>
            <a:extLst>
              <a:ext uri="{C807C97D-BFC1-408E-A445-0C87EB9F89A2}">
                <ask:lineSketchStyleProps xmlns:ask="http://schemas.microsoft.com/office/drawing/2018/sketchyshapes" sd="117700768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BAA2A-8726-FD06-C5D1-98D440FAA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5" y="1584325"/>
            <a:ext cx="11420475" cy="2387600"/>
          </a:xfrm>
        </p:spPr>
        <p:txBody>
          <a:bodyPr>
            <a:normAutofit/>
          </a:bodyPr>
          <a:lstStyle/>
          <a:p>
            <a:r>
              <a:rPr lang="es-ES_tradnl" sz="4000" noProof="1">
                <a:latin typeface="Aptos ExtraBold" panose="020F0502020204030204" pitchFamily="34" charset="0"/>
              </a:rPr>
              <a:t>DALYs De Enfermedades Tropicales Desatendidas Y Su Relación Con Variables Ambientales Y Socioeconómicas.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CD90F-99B9-43D9-8638-5679C495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9712" y="4079875"/>
            <a:ext cx="9144000" cy="1655762"/>
          </a:xfrm>
        </p:spPr>
        <p:txBody>
          <a:bodyPr/>
          <a:lstStyle/>
          <a:p>
            <a:r>
              <a:rPr lang="es-ES_tradnl" noProof="1">
                <a:latin typeface="+mj-lt"/>
              </a:rPr>
              <a:t>Jorge A. Castro Rodríguez</a:t>
            </a:r>
          </a:p>
        </p:txBody>
      </p:sp>
      <p:pic>
        <p:nvPicPr>
          <p:cNvPr id="9" name="Picture 8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DB278D15-B04B-20B6-2832-9F21BC8CD1AB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8877300" y="190981"/>
            <a:ext cx="2990850" cy="8393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9F10DB-E59A-203A-9338-F9B095B0CFE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1475" y="225118"/>
            <a:ext cx="2505075" cy="89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07036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6252-30F0-46FF-4030-7B65B284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6E1A14B-ECA9-8506-2B9C-4E758A422DF0}"/>
              </a:ext>
            </a:extLst>
          </p:cNvPr>
          <p:cNvSpPr/>
          <p:nvPr/>
        </p:nvSpPr>
        <p:spPr>
          <a:xfrm>
            <a:off x="219075" y="200026"/>
            <a:ext cx="11725275" cy="6438900"/>
          </a:xfrm>
          <a:custGeom>
            <a:avLst/>
            <a:gdLst>
              <a:gd name="csX0" fmla="*/ 0 w 11725275"/>
              <a:gd name="csY0" fmla="*/ 0 h 6438900"/>
              <a:gd name="csX1" fmla="*/ 11725275 w 11725275"/>
              <a:gd name="csY1" fmla="*/ 0 h 6438900"/>
              <a:gd name="csX2" fmla="*/ 11725275 w 11725275"/>
              <a:gd name="csY2" fmla="*/ 6438900 h 6438900"/>
              <a:gd name="csX3" fmla="*/ 0 w 11725275"/>
              <a:gd name="csY3" fmla="*/ 6438900 h 6438900"/>
              <a:gd name="csX4" fmla="*/ 0 w 11725275"/>
              <a:gd name="csY4" fmla="*/ 0 h 643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25275" h="6438900" extrusionOk="0">
                <a:moveTo>
                  <a:pt x="0" y="0"/>
                </a:moveTo>
                <a:cubicBezTo>
                  <a:pt x="3399955" y="-92938"/>
                  <a:pt x="9971035" y="-73857"/>
                  <a:pt x="11725275" y="0"/>
                </a:cubicBezTo>
                <a:cubicBezTo>
                  <a:pt x="11797118" y="1589663"/>
                  <a:pt x="11880976" y="5521985"/>
                  <a:pt x="11725275" y="6438900"/>
                </a:cubicBezTo>
                <a:cubicBezTo>
                  <a:pt x="9122253" y="6477114"/>
                  <a:pt x="5766231" y="6525681"/>
                  <a:pt x="0" y="6438900"/>
                </a:cubicBezTo>
                <a:cubicBezTo>
                  <a:pt x="-79000" y="4482847"/>
                  <a:pt x="77204" y="117320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430E02"/>
            </a:solidFill>
            <a:extLst>
              <a:ext uri="{C807C97D-BFC1-408E-A445-0C87EB9F89A2}">
                <ask:lineSketchStyleProps xmlns:ask="http://schemas.microsoft.com/office/drawing/2018/sketchyshapes" sd="117700768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3F6EF7-E4E1-4086-7496-C05F9B082736}"/>
              </a:ext>
            </a:extLst>
          </p:cNvPr>
          <p:cNvSpPr/>
          <p:nvPr/>
        </p:nvSpPr>
        <p:spPr>
          <a:xfrm>
            <a:off x="148830" y="-323698"/>
            <a:ext cx="11894340" cy="690542"/>
          </a:xfrm>
          <a:prstGeom prst="roundRect">
            <a:avLst/>
          </a:prstGeom>
          <a:solidFill>
            <a:srgbClr val="430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7" name="Picture 6" descr="A close up of a cell&#10;&#10;Description automatically generated">
            <a:extLst>
              <a:ext uri="{FF2B5EF4-FFF2-40B4-BE49-F238E27FC236}">
                <a16:creationId xmlns:a16="http://schemas.microsoft.com/office/drawing/2014/main" id="{D30FF36F-75ED-4464-F3F9-4B4DE5C05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315967">
            <a:off x="11692140" y="-78314"/>
            <a:ext cx="402329" cy="514856"/>
          </a:xfrm>
          <a:prstGeom prst="rect">
            <a:avLst/>
          </a:prstGeom>
        </p:spPr>
      </p:pic>
      <p:pic>
        <p:nvPicPr>
          <p:cNvPr id="8" name="Picture 7" descr="Mosquito, Insect, Disease, Vector, Biting PNG">
            <a:extLst>
              <a:ext uri="{FF2B5EF4-FFF2-40B4-BE49-F238E27FC236}">
                <a16:creationId xmlns:a16="http://schemas.microsoft.com/office/drawing/2014/main" id="{7E22C37B-679C-CBED-BF04-548149F3B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50677">
            <a:off x="11535419" y="17380"/>
            <a:ext cx="741722" cy="419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0BEAE-2864-8E7E-0FBA-C21B0B16C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6442667" cy="4351338"/>
          </a:xfrm>
        </p:spPr>
        <p:txBody>
          <a:bodyPr/>
          <a:lstStyle/>
          <a:p>
            <a:r>
              <a:rPr lang="es-ES_tradnl" noProof="1"/>
              <a:t>Conjunto diverso de condiciones causadas por patógenos y toxinas.</a:t>
            </a:r>
          </a:p>
          <a:p>
            <a:r>
              <a:rPr lang="es-ES_tradnl" noProof="1"/>
              <a:t>Epidemiología compleja.</a:t>
            </a:r>
          </a:p>
          <a:p>
            <a:r>
              <a:rPr lang="es-ES_tradnl" noProof="1"/>
              <a:t>14.1 millones de DALYs perdidos al año. </a:t>
            </a:r>
          </a:p>
          <a:p>
            <a:endParaRPr lang="es-ES_tradnl" noProof="1"/>
          </a:p>
          <a:p>
            <a:endParaRPr lang="es-ES_tradnl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D7B7C-B673-FC06-04CD-969BB6B5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4512"/>
            <a:ext cx="10515600" cy="1325563"/>
          </a:xfrm>
        </p:spPr>
        <p:txBody>
          <a:bodyPr>
            <a:normAutofit/>
          </a:bodyPr>
          <a:lstStyle/>
          <a:p>
            <a:r>
              <a:rPr lang="es-ES_tradnl" sz="3600" noProof="1"/>
              <a:t>Las Enfermedades Tropicales Desatendidas (NTDs) tienen mayor prevalencia en países en vías de desarrollo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36019-189F-64F6-859B-21206FE5B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ES_tradnl" noProof="1" smtClean="0"/>
              <a:t>2</a:t>
            </a:fld>
            <a:endParaRPr lang="es-ES_tradnl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6AC210-5BE2-0C7F-3DB2-7025157EB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1425"/>
            <a:ext cx="501650" cy="501650"/>
          </a:xfrm>
          <a:prstGeom prst="rect">
            <a:avLst/>
          </a:prstGeom>
        </p:spPr>
      </p:pic>
      <p:pic>
        <p:nvPicPr>
          <p:cNvPr id="5" name="Picture 4" descr="AMD: Identifying Vector-borne Diseases | AMD | CDC">
            <a:extLst>
              <a:ext uri="{FF2B5EF4-FFF2-40B4-BE49-F238E27FC236}">
                <a16:creationId xmlns:a16="http://schemas.microsoft.com/office/drawing/2014/main" id="{EEB32809-4579-7923-EC39-3E4FC3D76EC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7145" flipH="1">
            <a:off x="-168336" y="6401371"/>
            <a:ext cx="786901" cy="442632"/>
          </a:xfrm>
          <a:prstGeom prst="rect">
            <a:avLst/>
          </a:prstGeom>
        </p:spPr>
      </p:pic>
      <p:pic>
        <p:nvPicPr>
          <p:cNvPr id="18" name="Picture 17" descr="https://www.who.int/images/default-source/departments/ntd-library/chagas-disease/mathew-perkins-chagas.tmb-768v.jpg?Culture=en&amp;sfvrsn=a1ac9f7a_3">
            <a:extLst>
              <a:ext uri="{FF2B5EF4-FFF2-40B4-BE49-F238E27FC236}">
                <a16:creationId xmlns:a16="http://schemas.microsoft.com/office/drawing/2014/main" id="{040FA666-2EAC-F750-DEF3-DE8D24E21A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8725" y="4388032"/>
            <a:ext cx="2449439" cy="1617012"/>
          </a:xfrm>
          <a:prstGeom prst="rect">
            <a:avLst/>
          </a:prstGeom>
        </p:spPr>
      </p:pic>
      <p:pic>
        <p:nvPicPr>
          <p:cNvPr id="19" name="Picture 18" descr="https://cdn.who.int/media/images/default-source/global-malaria-program-(gmp)/photostory/2018-india/india-photo-essay-1.tmb-1920v.jpg?sfvrsn=372af93c_7">
            <a:extLst>
              <a:ext uri="{FF2B5EF4-FFF2-40B4-BE49-F238E27FC236}">
                <a16:creationId xmlns:a16="http://schemas.microsoft.com/office/drawing/2014/main" id="{4C1B4662-7835-DAC4-344F-1AD69BE4EB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2018" y="4351326"/>
            <a:ext cx="2200948" cy="1465831"/>
          </a:xfrm>
          <a:prstGeom prst="rect">
            <a:avLst/>
          </a:prstGeom>
        </p:spPr>
      </p:pic>
      <p:pic>
        <p:nvPicPr>
          <p:cNvPr id="20" name="Picture 19" descr="https://www.who.int/images/default-source/departments/ntd-library/leishmaniasis/sewage-north-darfur.tmb-768v.jpg?Culture=en&amp;sfvrsn=390866a1_2">
            <a:extLst>
              <a:ext uri="{FF2B5EF4-FFF2-40B4-BE49-F238E27FC236}">
                <a16:creationId xmlns:a16="http://schemas.microsoft.com/office/drawing/2014/main" id="{1F3FD113-6415-5663-2FCC-7716E7D536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7431" y="1798950"/>
            <a:ext cx="3761467" cy="250764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C6AE0BB-D7CB-3C00-D841-8405672CBB26}"/>
              </a:ext>
            </a:extLst>
          </p:cNvPr>
          <p:cNvSpPr txBox="1"/>
          <p:nvPr/>
        </p:nvSpPr>
        <p:spPr>
          <a:xfrm>
            <a:off x="7330277" y="6017796"/>
            <a:ext cx="466348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700" noProof="1"/>
              <a:t>https://www.who.int/news-room/facts-in-pictures?publishingoffices=ef806e9e-be4b-423a-91c9-9db2a8706e74</a:t>
            </a:r>
          </a:p>
        </p:txBody>
      </p:sp>
    </p:spTree>
    <p:extLst>
      <p:ext uri="{BB962C8B-B14F-4D97-AF65-F5344CB8AC3E}">
        <p14:creationId xmlns:p14="http://schemas.microsoft.com/office/powerpoint/2010/main" val="245459729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76E50-8641-09E4-4206-799D8BF63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E9AE5F9-568E-D3AC-FD15-250D4486D41A}"/>
              </a:ext>
            </a:extLst>
          </p:cNvPr>
          <p:cNvSpPr/>
          <p:nvPr/>
        </p:nvSpPr>
        <p:spPr>
          <a:xfrm>
            <a:off x="219075" y="200026"/>
            <a:ext cx="11725275" cy="6438900"/>
          </a:xfrm>
          <a:custGeom>
            <a:avLst/>
            <a:gdLst>
              <a:gd name="csX0" fmla="*/ 0 w 11725275"/>
              <a:gd name="csY0" fmla="*/ 0 h 6438900"/>
              <a:gd name="csX1" fmla="*/ 11725275 w 11725275"/>
              <a:gd name="csY1" fmla="*/ 0 h 6438900"/>
              <a:gd name="csX2" fmla="*/ 11725275 w 11725275"/>
              <a:gd name="csY2" fmla="*/ 6438900 h 6438900"/>
              <a:gd name="csX3" fmla="*/ 0 w 11725275"/>
              <a:gd name="csY3" fmla="*/ 6438900 h 6438900"/>
              <a:gd name="csX4" fmla="*/ 0 w 11725275"/>
              <a:gd name="csY4" fmla="*/ 0 h 643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25275" h="6438900" extrusionOk="0">
                <a:moveTo>
                  <a:pt x="0" y="0"/>
                </a:moveTo>
                <a:cubicBezTo>
                  <a:pt x="3399955" y="-92938"/>
                  <a:pt x="9971035" y="-73857"/>
                  <a:pt x="11725275" y="0"/>
                </a:cubicBezTo>
                <a:cubicBezTo>
                  <a:pt x="11797118" y="1589663"/>
                  <a:pt x="11880976" y="5521985"/>
                  <a:pt x="11725275" y="6438900"/>
                </a:cubicBezTo>
                <a:cubicBezTo>
                  <a:pt x="9122253" y="6477114"/>
                  <a:pt x="5766231" y="6525681"/>
                  <a:pt x="0" y="6438900"/>
                </a:cubicBezTo>
                <a:cubicBezTo>
                  <a:pt x="-79000" y="4482847"/>
                  <a:pt x="77204" y="117320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430E02"/>
            </a:solidFill>
            <a:extLst>
              <a:ext uri="{C807C97D-BFC1-408E-A445-0C87EB9F89A2}">
                <ask:lineSketchStyleProps xmlns:ask="http://schemas.microsoft.com/office/drawing/2018/sketchyshapes" sd="117700768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C0DF853-97DB-69AB-84D2-BF91EE1AFF35}"/>
              </a:ext>
            </a:extLst>
          </p:cNvPr>
          <p:cNvSpPr/>
          <p:nvPr/>
        </p:nvSpPr>
        <p:spPr>
          <a:xfrm>
            <a:off x="148830" y="-323698"/>
            <a:ext cx="11894340" cy="690542"/>
          </a:xfrm>
          <a:prstGeom prst="roundRect">
            <a:avLst/>
          </a:prstGeom>
          <a:solidFill>
            <a:srgbClr val="430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7" name="Picture 6" descr="A close up of a cell&#10;&#10;Description automatically generated">
            <a:extLst>
              <a:ext uri="{FF2B5EF4-FFF2-40B4-BE49-F238E27FC236}">
                <a16:creationId xmlns:a16="http://schemas.microsoft.com/office/drawing/2014/main" id="{16ED9B7D-609C-C85D-E30D-5E5B77C6F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315967">
            <a:off x="11692140" y="-78314"/>
            <a:ext cx="402329" cy="514856"/>
          </a:xfrm>
          <a:prstGeom prst="rect">
            <a:avLst/>
          </a:prstGeom>
        </p:spPr>
      </p:pic>
      <p:pic>
        <p:nvPicPr>
          <p:cNvPr id="8" name="Picture 7" descr="Mosquito, Insect, Disease, Vector, Biting PNG">
            <a:extLst>
              <a:ext uri="{FF2B5EF4-FFF2-40B4-BE49-F238E27FC236}">
                <a16:creationId xmlns:a16="http://schemas.microsoft.com/office/drawing/2014/main" id="{CE4FDCC8-684B-D8CF-76B0-F8B48F543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50677">
            <a:off x="11535419" y="17380"/>
            <a:ext cx="741722" cy="419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27A12-2E45-313F-70B8-B1B2446D7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6442667" cy="4351338"/>
          </a:xfrm>
        </p:spPr>
        <p:txBody>
          <a:bodyPr/>
          <a:lstStyle/>
          <a:p>
            <a:r>
              <a:rPr lang="es-ES_tradnl" noProof="1"/>
              <a:t>Años de Vida Ajustados por Discapacidad (DALYs)</a:t>
            </a:r>
          </a:p>
          <a:p>
            <a:pPr lvl="1"/>
            <a:r>
              <a:rPr lang="es-ES_tradnl" noProof="1"/>
              <a:t>Años perdidos por muerte prematura (YLLs).</a:t>
            </a:r>
          </a:p>
          <a:p>
            <a:pPr lvl="1"/>
            <a:r>
              <a:rPr lang="es-ES_tradnl" noProof="1"/>
              <a:t>Años perdidos debido a discapacidad (YLDs).</a:t>
            </a:r>
          </a:p>
          <a:p>
            <a:endParaRPr lang="es-ES_tradnl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56BE59-A9E7-91FF-47B2-0B891C11B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4512"/>
            <a:ext cx="10515600" cy="1325563"/>
          </a:xfrm>
        </p:spPr>
        <p:txBody>
          <a:bodyPr>
            <a:normAutofit/>
          </a:bodyPr>
          <a:lstStyle/>
          <a:p>
            <a:r>
              <a:rPr lang="es-ES_tradnl" sz="3600" noProof="1"/>
              <a:t>La carga de enfermedades se mide por medio de DALYs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8F365-CEBE-2488-A2A4-8FD6FC25F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ES_tradnl" noProof="1" smtClean="0"/>
              <a:t>3</a:t>
            </a:fld>
            <a:endParaRPr lang="es-ES_tradnl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CD9F85-AC77-F7E2-0C16-313939266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1425"/>
            <a:ext cx="501650" cy="501650"/>
          </a:xfrm>
          <a:prstGeom prst="rect">
            <a:avLst/>
          </a:prstGeom>
        </p:spPr>
      </p:pic>
      <p:pic>
        <p:nvPicPr>
          <p:cNvPr id="5" name="Picture 4" descr="AMD: Identifying Vector-borne Diseases | AMD | CDC">
            <a:extLst>
              <a:ext uri="{FF2B5EF4-FFF2-40B4-BE49-F238E27FC236}">
                <a16:creationId xmlns:a16="http://schemas.microsoft.com/office/drawing/2014/main" id="{A4170809-359A-B1CF-14F5-82C28565A69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7145" flipH="1">
            <a:off x="-168336" y="6401371"/>
            <a:ext cx="786901" cy="442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1FE26B-0E05-A690-FEB3-CD95EB12A63F}"/>
              </a:ext>
            </a:extLst>
          </p:cNvPr>
          <p:cNvSpPr txBox="1"/>
          <p:nvPr/>
        </p:nvSpPr>
        <p:spPr>
          <a:xfrm>
            <a:off x="7015438" y="3016373"/>
            <a:ext cx="50122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s-ES_tradnl" noProof="1"/>
            </a:br>
            <a:endParaRPr lang="es-ES_tradnl" noProof="1"/>
          </a:p>
          <a:p>
            <a:pPr algn="just" rtl="0">
              <a:buNone/>
            </a:pPr>
            <a:r>
              <a:rPr lang="es-ES_tradnl" sz="1800" b="0" i="0" u="none" strike="noStrike" noProof="1">
                <a:solidFill>
                  <a:srgbClr val="000000"/>
                </a:solidFill>
                <a:effectLst/>
                <a:latin typeface="Lexend"/>
              </a:rPr>
              <a:t>Carlson et al., 2025 </a:t>
            </a:r>
            <a:endParaRPr lang="es-ES_tradnl" noProof="1">
              <a:effectLst/>
            </a:endParaRPr>
          </a:p>
        </p:txBody>
      </p:sp>
      <p:pic>
        <p:nvPicPr>
          <p:cNvPr id="9" name="Picture 8" descr="https://www.thelancet.com/cms/10.1016/S0140-6736(24)00757-8/asset/992befd5-2a5e-4618-bf8b-da32203c969b/main.assets/gr2_lrg.jpg">
            <a:extLst>
              <a:ext uri="{FF2B5EF4-FFF2-40B4-BE49-F238E27FC236}">
                <a16:creationId xmlns:a16="http://schemas.microsoft.com/office/drawing/2014/main" id="{28EC5936-9862-FBC2-CED2-5F4DC6BB0D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6621" y="1695778"/>
            <a:ext cx="4371975" cy="46605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FEB15A-F255-02DF-C208-5F638D8F3D66}"/>
              </a:ext>
            </a:extLst>
          </p:cNvPr>
          <p:cNvSpPr txBox="1"/>
          <p:nvPr/>
        </p:nvSpPr>
        <p:spPr>
          <a:xfrm>
            <a:off x="7327801" y="6313488"/>
            <a:ext cx="1657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s-ES_tradnl" sz="1400" b="0" i="0" u="none" strike="noStrike" noProof="1">
                <a:effectLst/>
                <a:latin typeface="Aptos Light" panose="020B0004020202020204" pitchFamily="34" charset="0"/>
              </a:rPr>
              <a:t>Ferrari et al., 2024 </a:t>
            </a:r>
            <a:endParaRPr lang="es-ES_tradnl" sz="1400" noProof="1">
              <a:effectLst/>
              <a:latin typeface="Aptos Light" panose="020B00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A29FE5-985D-D3D3-D173-C49989EDA3F0}"/>
              </a:ext>
            </a:extLst>
          </p:cNvPr>
          <p:cNvCxnSpPr>
            <a:cxnSpLocks/>
          </p:cNvCxnSpPr>
          <p:nvPr/>
        </p:nvCxnSpPr>
        <p:spPr>
          <a:xfrm flipH="1">
            <a:off x="11672006" y="4333875"/>
            <a:ext cx="371377" cy="0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Picture 22" descr="See formula for calculation of DALYs in text, figure emphasizes that DALYs are cumulative and may result from temporary disability at different points in lifespan in addition to permanent disability">
            <a:extLst>
              <a:ext uri="{FF2B5EF4-FFF2-40B4-BE49-F238E27FC236}">
                <a16:creationId xmlns:a16="http://schemas.microsoft.com/office/drawing/2014/main" id="{B7666386-DABD-19B0-DBA2-0F00B32CC4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4100" y="4478275"/>
            <a:ext cx="5835551" cy="191934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D07037F-2114-ED65-37EC-90230B09E112}"/>
              </a:ext>
            </a:extLst>
          </p:cNvPr>
          <p:cNvSpPr txBox="1"/>
          <p:nvPr/>
        </p:nvSpPr>
        <p:spPr>
          <a:xfrm>
            <a:off x="1038204" y="6224535"/>
            <a:ext cx="59772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700" noProof="1"/>
              <a:t>By Original: Planemad Vector: Radio89 - This file was derived from: DALY disability affected life year infographic.png:, CC BY-SA 3.0, https://commons.wikimedia.org/w/index.php?curid=20278903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BEF0EE-F296-B33F-965C-FE97E2AB3A3A}"/>
              </a:ext>
            </a:extLst>
          </p:cNvPr>
          <p:cNvCxnSpPr>
            <a:cxnSpLocks/>
          </p:cNvCxnSpPr>
          <p:nvPr/>
        </p:nvCxnSpPr>
        <p:spPr>
          <a:xfrm flipH="1">
            <a:off x="8364165" y="5574411"/>
            <a:ext cx="371377" cy="0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5F5E39-6BC0-9A73-C9A1-09736BF7363D}"/>
              </a:ext>
            </a:extLst>
          </p:cNvPr>
          <p:cNvCxnSpPr>
            <a:cxnSpLocks/>
          </p:cNvCxnSpPr>
          <p:nvPr/>
        </p:nvCxnSpPr>
        <p:spPr>
          <a:xfrm flipH="1">
            <a:off x="8364165" y="3429000"/>
            <a:ext cx="371377" cy="0"/>
          </a:xfrm>
          <a:prstGeom prst="straightConnector1">
            <a:avLst/>
          </a:prstGeom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23873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13449F4-E026-5724-7EB5-F92F82D8ED3C}"/>
              </a:ext>
            </a:extLst>
          </p:cNvPr>
          <p:cNvSpPr/>
          <p:nvPr/>
        </p:nvSpPr>
        <p:spPr>
          <a:xfrm>
            <a:off x="219075" y="200026"/>
            <a:ext cx="11725275" cy="6438900"/>
          </a:xfrm>
          <a:custGeom>
            <a:avLst/>
            <a:gdLst>
              <a:gd name="csX0" fmla="*/ 0 w 11725275"/>
              <a:gd name="csY0" fmla="*/ 0 h 6438900"/>
              <a:gd name="csX1" fmla="*/ 11725275 w 11725275"/>
              <a:gd name="csY1" fmla="*/ 0 h 6438900"/>
              <a:gd name="csX2" fmla="*/ 11725275 w 11725275"/>
              <a:gd name="csY2" fmla="*/ 6438900 h 6438900"/>
              <a:gd name="csX3" fmla="*/ 0 w 11725275"/>
              <a:gd name="csY3" fmla="*/ 6438900 h 6438900"/>
              <a:gd name="csX4" fmla="*/ 0 w 11725275"/>
              <a:gd name="csY4" fmla="*/ 0 h 643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25275" h="6438900" extrusionOk="0">
                <a:moveTo>
                  <a:pt x="0" y="0"/>
                </a:moveTo>
                <a:cubicBezTo>
                  <a:pt x="3399955" y="-92938"/>
                  <a:pt x="9971035" y="-73857"/>
                  <a:pt x="11725275" y="0"/>
                </a:cubicBezTo>
                <a:cubicBezTo>
                  <a:pt x="11797118" y="1589663"/>
                  <a:pt x="11880976" y="5521985"/>
                  <a:pt x="11725275" y="6438900"/>
                </a:cubicBezTo>
                <a:cubicBezTo>
                  <a:pt x="9122253" y="6477114"/>
                  <a:pt x="5766231" y="6525681"/>
                  <a:pt x="0" y="6438900"/>
                </a:cubicBezTo>
                <a:cubicBezTo>
                  <a:pt x="-79000" y="4482847"/>
                  <a:pt x="77204" y="117320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430E02"/>
            </a:solidFill>
            <a:extLst>
              <a:ext uri="{C807C97D-BFC1-408E-A445-0C87EB9F89A2}">
                <ask:lineSketchStyleProps xmlns:ask="http://schemas.microsoft.com/office/drawing/2018/sketchyshapes" sd="117700768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0AEB0D-AAA4-F1FE-EC76-EC1E96825B0D}"/>
              </a:ext>
            </a:extLst>
          </p:cNvPr>
          <p:cNvSpPr/>
          <p:nvPr/>
        </p:nvSpPr>
        <p:spPr>
          <a:xfrm>
            <a:off x="148830" y="-323698"/>
            <a:ext cx="11894340" cy="690542"/>
          </a:xfrm>
          <a:prstGeom prst="roundRect">
            <a:avLst/>
          </a:prstGeom>
          <a:solidFill>
            <a:srgbClr val="430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7" name="Picture 6" descr="A close up of a cell&#10;&#10;Description automatically generated">
            <a:extLst>
              <a:ext uri="{FF2B5EF4-FFF2-40B4-BE49-F238E27FC236}">
                <a16:creationId xmlns:a16="http://schemas.microsoft.com/office/drawing/2014/main" id="{832E8163-7F80-C182-4C20-EF1ED6A06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315967">
            <a:off x="11692140" y="-78314"/>
            <a:ext cx="402329" cy="514856"/>
          </a:xfrm>
          <a:prstGeom prst="rect">
            <a:avLst/>
          </a:prstGeom>
        </p:spPr>
      </p:pic>
      <p:pic>
        <p:nvPicPr>
          <p:cNvPr id="8" name="Picture 7" descr="Mosquito, Insect, Disease, Vector, Biting PNG">
            <a:extLst>
              <a:ext uri="{FF2B5EF4-FFF2-40B4-BE49-F238E27FC236}">
                <a16:creationId xmlns:a16="http://schemas.microsoft.com/office/drawing/2014/main" id="{95287D8E-D92C-91E0-B667-8AF8DFFAB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50677">
            <a:off x="11535419" y="17380"/>
            <a:ext cx="741722" cy="419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D1ADD-6EB6-1EEE-699B-FBE9F8477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6063334" cy="4351338"/>
          </a:xfrm>
        </p:spPr>
        <p:txBody>
          <a:bodyPr/>
          <a:lstStyle/>
          <a:p>
            <a:r>
              <a:rPr lang="es-ES_tradnl" noProof="1"/>
              <a:t>Alteraciones en patrones de distribución de vectores y reservorios.</a:t>
            </a:r>
          </a:p>
          <a:p>
            <a:r>
              <a:rPr lang="es-ES_tradnl" noProof="1"/>
              <a:t>Aumento de rangos geográficos.</a:t>
            </a:r>
          </a:p>
          <a:p>
            <a:r>
              <a:rPr lang="es-ES_tradnl" noProof="1"/>
              <a:t>Intensificación de eventos climáticos.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6939A-1F81-0684-0D8F-2425643D1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4512"/>
            <a:ext cx="10515600" cy="1325563"/>
          </a:xfrm>
        </p:spPr>
        <p:txBody>
          <a:bodyPr>
            <a:normAutofit/>
          </a:bodyPr>
          <a:lstStyle/>
          <a:p>
            <a:r>
              <a:rPr lang="es-ES_tradnl" sz="3600" noProof="1"/>
              <a:t>El cambio global está impulsando la emergencia de enfermedades infecciosas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9463B-82F9-4D3C-766D-715B763FC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ES_tradnl" noProof="1" smtClean="0"/>
              <a:t>4</a:t>
            </a:fld>
            <a:endParaRPr lang="es-ES_tradnl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E06C70-3531-E8D8-D531-4938BF582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1425"/>
            <a:ext cx="501650" cy="501650"/>
          </a:xfrm>
          <a:prstGeom prst="rect">
            <a:avLst/>
          </a:prstGeom>
        </p:spPr>
      </p:pic>
      <p:pic>
        <p:nvPicPr>
          <p:cNvPr id="5" name="Picture 4" descr="AMD: Identifying Vector-borne Diseases | AMD | CDC">
            <a:extLst>
              <a:ext uri="{FF2B5EF4-FFF2-40B4-BE49-F238E27FC236}">
                <a16:creationId xmlns:a16="http://schemas.microsoft.com/office/drawing/2014/main" id="{6753A307-F179-6D57-92F1-72E688D7F64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7145" flipH="1">
            <a:off x="-168336" y="6401371"/>
            <a:ext cx="786901" cy="442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3A5588-5FAC-1DBC-48C4-6E3102D27D18}"/>
              </a:ext>
            </a:extLst>
          </p:cNvPr>
          <p:cNvSpPr txBox="1"/>
          <p:nvPr/>
        </p:nvSpPr>
        <p:spPr>
          <a:xfrm>
            <a:off x="7015438" y="3016373"/>
            <a:ext cx="50122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s-ES_tradnl" noProof="1"/>
            </a:br>
            <a:endParaRPr lang="es-ES_tradnl" noProof="1"/>
          </a:p>
          <a:p>
            <a:pPr algn="just" rtl="0">
              <a:buNone/>
            </a:pPr>
            <a:r>
              <a:rPr lang="es-ES_tradnl" sz="1800" b="0" i="0" u="none" strike="noStrike" noProof="1">
                <a:solidFill>
                  <a:srgbClr val="000000"/>
                </a:solidFill>
                <a:effectLst/>
                <a:latin typeface="Lexend"/>
              </a:rPr>
              <a:t>Carlson et al., 2025 </a:t>
            </a:r>
            <a:endParaRPr lang="es-ES_tradnl" noProof="1">
              <a:effectLst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51E45A-DF74-BBF4-BFD4-DC8C6B1359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354" y="1639887"/>
            <a:ext cx="4939878" cy="4351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0FAB37-474C-B09C-25E6-9BB49A530ABD}"/>
              </a:ext>
            </a:extLst>
          </p:cNvPr>
          <p:cNvSpPr txBox="1"/>
          <p:nvPr/>
        </p:nvSpPr>
        <p:spPr>
          <a:xfrm>
            <a:off x="6922294" y="5923256"/>
            <a:ext cx="62817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s-ES_tradnl" sz="1400" b="0" i="0" u="none" strike="noStrike" noProof="1">
                <a:effectLst/>
                <a:latin typeface="Aptos Light" panose="020B0004020202020204" pitchFamily="34" charset="0"/>
              </a:rPr>
              <a:t>Carlson et al., 2025 </a:t>
            </a:r>
            <a:endParaRPr lang="es-ES_tradnl" sz="1400" noProof="1">
              <a:effectLst/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814618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6D6CC-B9FA-F046-DBAF-1EF38253A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666978E-E1C2-F7EE-70FF-A895A1CB5A81}"/>
              </a:ext>
            </a:extLst>
          </p:cNvPr>
          <p:cNvSpPr/>
          <p:nvPr/>
        </p:nvSpPr>
        <p:spPr>
          <a:xfrm>
            <a:off x="219075" y="200026"/>
            <a:ext cx="11725275" cy="6438900"/>
          </a:xfrm>
          <a:custGeom>
            <a:avLst/>
            <a:gdLst>
              <a:gd name="csX0" fmla="*/ 0 w 11725275"/>
              <a:gd name="csY0" fmla="*/ 0 h 6438900"/>
              <a:gd name="csX1" fmla="*/ 11725275 w 11725275"/>
              <a:gd name="csY1" fmla="*/ 0 h 6438900"/>
              <a:gd name="csX2" fmla="*/ 11725275 w 11725275"/>
              <a:gd name="csY2" fmla="*/ 6438900 h 6438900"/>
              <a:gd name="csX3" fmla="*/ 0 w 11725275"/>
              <a:gd name="csY3" fmla="*/ 6438900 h 6438900"/>
              <a:gd name="csX4" fmla="*/ 0 w 11725275"/>
              <a:gd name="csY4" fmla="*/ 0 h 643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25275" h="6438900" extrusionOk="0">
                <a:moveTo>
                  <a:pt x="0" y="0"/>
                </a:moveTo>
                <a:cubicBezTo>
                  <a:pt x="3399955" y="-92938"/>
                  <a:pt x="9971035" y="-73857"/>
                  <a:pt x="11725275" y="0"/>
                </a:cubicBezTo>
                <a:cubicBezTo>
                  <a:pt x="11797118" y="1589663"/>
                  <a:pt x="11880976" y="5521985"/>
                  <a:pt x="11725275" y="6438900"/>
                </a:cubicBezTo>
                <a:cubicBezTo>
                  <a:pt x="9122253" y="6477114"/>
                  <a:pt x="5766231" y="6525681"/>
                  <a:pt x="0" y="6438900"/>
                </a:cubicBezTo>
                <a:cubicBezTo>
                  <a:pt x="-79000" y="4482847"/>
                  <a:pt x="77204" y="117320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430E02"/>
            </a:solidFill>
            <a:extLst>
              <a:ext uri="{C807C97D-BFC1-408E-A445-0C87EB9F89A2}">
                <ask:lineSketchStyleProps xmlns:ask="http://schemas.microsoft.com/office/drawing/2018/sketchyshapes" sd="117700768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D3ED66-1C51-C927-B272-17B81B78DE6D}"/>
              </a:ext>
            </a:extLst>
          </p:cNvPr>
          <p:cNvSpPr/>
          <p:nvPr/>
        </p:nvSpPr>
        <p:spPr>
          <a:xfrm>
            <a:off x="148830" y="-323698"/>
            <a:ext cx="11894340" cy="690542"/>
          </a:xfrm>
          <a:prstGeom prst="roundRect">
            <a:avLst/>
          </a:prstGeom>
          <a:solidFill>
            <a:srgbClr val="430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7" name="Picture 6" descr="A close up of a cell&#10;&#10;Description automatically generated">
            <a:extLst>
              <a:ext uri="{FF2B5EF4-FFF2-40B4-BE49-F238E27FC236}">
                <a16:creationId xmlns:a16="http://schemas.microsoft.com/office/drawing/2014/main" id="{311FBFB5-3780-3ECB-1BC3-CBD71EF16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315967">
            <a:off x="11692140" y="-78314"/>
            <a:ext cx="402329" cy="514856"/>
          </a:xfrm>
          <a:prstGeom prst="rect">
            <a:avLst/>
          </a:prstGeom>
        </p:spPr>
      </p:pic>
      <p:pic>
        <p:nvPicPr>
          <p:cNvPr id="8" name="Picture 7" descr="Mosquito, Insect, Disease, Vector, Biting PNG">
            <a:extLst>
              <a:ext uri="{FF2B5EF4-FFF2-40B4-BE49-F238E27FC236}">
                <a16:creationId xmlns:a16="http://schemas.microsoft.com/office/drawing/2014/main" id="{3D891EB6-97BF-D270-4A9F-9B5373C17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50677">
            <a:off x="11535419" y="17380"/>
            <a:ext cx="741722" cy="419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561F6-7343-4080-1F76-193950194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2495"/>
            <a:ext cx="10515600" cy="4351338"/>
          </a:xfrm>
        </p:spPr>
        <p:txBody>
          <a:bodyPr/>
          <a:lstStyle/>
          <a:p>
            <a:r>
              <a:rPr lang="es-ES_tradnl" noProof="1"/>
              <a:t>Los DALYs reportados son para los años de 2000, 2010, 2015, 2019, 2020 y 2021.</a:t>
            </a:r>
          </a:p>
          <a:p>
            <a:pPr lvl="1"/>
            <a:r>
              <a:rPr lang="es-ES_tradnl" noProof="1"/>
              <a:t>9 hojas con 8 grupos etarios (‘</a:t>
            </a:r>
            <a:r>
              <a:rPr lang="es-ES_tradnl" i="1" noProof="1"/>
              <a:t>All ages</a:t>
            </a:r>
            <a:r>
              <a:rPr lang="es-ES_tradnl" noProof="1"/>
              <a:t>’, ‘0-4’, ‘5-14’, ‘15-29’, ‘30-49’, ‘50-59’, ‘60-69’ y ‘70+’ ) y dividido en sexo (</a:t>
            </a:r>
            <a:r>
              <a:rPr lang="es-ES_tradnl" i="1" noProof="1"/>
              <a:t>Persons</a:t>
            </a:r>
            <a:r>
              <a:rPr lang="es-ES_tradnl" noProof="1"/>
              <a:t>, </a:t>
            </a:r>
            <a:r>
              <a:rPr lang="es-ES_tradnl" i="1" noProof="1"/>
              <a:t>Males</a:t>
            </a:r>
            <a:r>
              <a:rPr lang="es-ES_tradnl" noProof="1"/>
              <a:t>, </a:t>
            </a:r>
            <a:r>
              <a:rPr lang="es-ES_tradnl" i="1" noProof="1"/>
              <a:t>Females</a:t>
            </a:r>
            <a:r>
              <a:rPr lang="es-ES_tradnl" noProof="1"/>
              <a:t>).</a:t>
            </a:r>
          </a:p>
          <a:p>
            <a:pPr lvl="1"/>
            <a:r>
              <a:rPr lang="es-ES_tradnl" noProof="1"/>
              <a:t>[661, 189]</a:t>
            </a:r>
          </a:p>
          <a:p>
            <a:r>
              <a:rPr lang="es-ES_tradnl" noProof="1"/>
              <a:t>Los datos de variables socioeconómicas y ambientales se obtuvieron de Global Data Lab (GDL).</a:t>
            </a:r>
          </a:p>
          <a:p>
            <a:pPr lvl="1"/>
            <a:r>
              <a:rPr lang="es-ES_tradnl" noProof="1"/>
              <a:t>PIB per cápita, IDH, índice de educación, índice de salud, índice de ingresos, esperanza de vida, CO2 anual (ton), precipitación anual total (m), temperature superficial (°C ) y húmedad relativa (%). </a:t>
            </a:r>
          </a:p>
          <a:p>
            <a:pPr lvl="1"/>
            <a:endParaRPr lang="es-ES_tradnl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B59B32-0A06-5952-09A6-F9E2CC1D6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4512"/>
            <a:ext cx="10515600" cy="1325563"/>
          </a:xfrm>
        </p:spPr>
        <p:txBody>
          <a:bodyPr/>
          <a:lstStyle/>
          <a:p>
            <a:r>
              <a:rPr lang="es-ES_tradnl" noProof="1"/>
              <a:t>Conjunto de Datos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BD01E-10C9-3E5C-28FC-C513E1B3B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ES_tradnl" noProof="1" smtClean="0"/>
              <a:t>5</a:t>
            </a:fld>
            <a:endParaRPr lang="es-ES_tradnl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CE14D-A6F9-B6BB-E44C-58E3958B04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1425"/>
            <a:ext cx="501650" cy="501650"/>
          </a:xfrm>
          <a:prstGeom prst="rect">
            <a:avLst/>
          </a:prstGeom>
        </p:spPr>
      </p:pic>
      <p:pic>
        <p:nvPicPr>
          <p:cNvPr id="5" name="Picture 4" descr="AMD: Identifying Vector-borne Diseases | AMD | CDC">
            <a:extLst>
              <a:ext uri="{FF2B5EF4-FFF2-40B4-BE49-F238E27FC236}">
                <a16:creationId xmlns:a16="http://schemas.microsoft.com/office/drawing/2014/main" id="{E3972897-4FD6-0792-12CC-7CDEF4FA106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7145" flipH="1">
            <a:off x="-168336" y="6401371"/>
            <a:ext cx="786901" cy="442632"/>
          </a:xfrm>
          <a:prstGeom prst="rect">
            <a:avLst/>
          </a:prstGeom>
        </p:spPr>
      </p:pic>
      <p:pic>
        <p:nvPicPr>
          <p:cNvPr id="11" name="Picture 10" descr="&quot;TM.de-Ethikrat&quot; ☕ - FC Bayern München - Forum | Seite 2304 | Transfermarkt">
            <a:extLst>
              <a:ext uri="{FF2B5EF4-FFF2-40B4-BE49-F238E27FC236}">
                <a16:creationId xmlns:a16="http://schemas.microsoft.com/office/drawing/2014/main" id="{54102188-A9A8-53C3-FF80-41ECB050EE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3624" y="363509"/>
            <a:ext cx="1552656" cy="15526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5B8CA5-CB60-002F-F51F-0F20F1EAA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1868" y="414167"/>
            <a:ext cx="1840895" cy="144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5784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 C 0.181 0 0.25 0.069 0.25 0.125 L 0.25 0.25 E" pathEditMode="relative" ptsTypes="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7.40741E-7 L 0.18985 -7.40741E-7 C 0.27487 -7.40741E-7 0.37982 0.06829 0.37982 0.12384 L 0.37982 0.24769 " pathEditMode="relative" rAng="0" ptsTypes="AAAA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84" y="1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559FF-EF46-5929-4D9F-9621E1643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D668446-949D-A051-363F-84B4B7C9D8A4}"/>
              </a:ext>
            </a:extLst>
          </p:cNvPr>
          <p:cNvSpPr/>
          <p:nvPr/>
        </p:nvSpPr>
        <p:spPr>
          <a:xfrm>
            <a:off x="219075" y="200026"/>
            <a:ext cx="11725275" cy="6438900"/>
          </a:xfrm>
          <a:custGeom>
            <a:avLst/>
            <a:gdLst>
              <a:gd name="csX0" fmla="*/ 0 w 11725275"/>
              <a:gd name="csY0" fmla="*/ 0 h 6438900"/>
              <a:gd name="csX1" fmla="*/ 11725275 w 11725275"/>
              <a:gd name="csY1" fmla="*/ 0 h 6438900"/>
              <a:gd name="csX2" fmla="*/ 11725275 w 11725275"/>
              <a:gd name="csY2" fmla="*/ 6438900 h 6438900"/>
              <a:gd name="csX3" fmla="*/ 0 w 11725275"/>
              <a:gd name="csY3" fmla="*/ 6438900 h 6438900"/>
              <a:gd name="csX4" fmla="*/ 0 w 11725275"/>
              <a:gd name="csY4" fmla="*/ 0 h 643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25275" h="6438900" extrusionOk="0">
                <a:moveTo>
                  <a:pt x="0" y="0"/>
                </a:moveTo>
                <a:cubicBezTo>
                  <a:pt x="3399955" y="-92938"/>
                  <a:pt x="9971035" y="-73857"/>
                  <a:pt x="11725275" y="0"/>
                </a:cubicBezTo>
                <a:cubicBezTo>
                  <a:pt x="11797118" y="1589663"/>
                  <a:pt x="11880976" y="5521985"/>
                  <a:pt x="11725275" y="6438900"/>
                </a:cubicBezTo>
                <a:cubicBezTo>
                  <a:pt x="9122253" y="6477114"/>
                  <a:pt x="5766231" y="6525681"/>
                  <a:pt x="0" y="6438900"/>
                </a:cubicBezTo>
                <a:cubicBezTo>
                  <a:pt x="-79000" y="4482847"/>
                  <a:pt x="77204" y="117320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430E02"/>
            </a:solidFill>
            <a:extLst>
              <a:ext uri="{C807C97D-BFC1-408E-A445-0C87EB9F89A2}">
                <ask:lineSketchStyleProps xmlns:ask="http://schemas.microsoft.com/office/drawing/2018/sketchyshapes" sd="117700768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B80C73D-4C79-332F-0051-C4ACEFC573AE}"/>
              </a:ext>
            </a:extLst>
          </p:cNvPr>
          <p:cNvSpPr/>
          <p:nvPr/>
        </p:nvSpPr>
        <p:spPr>
          <a:xfrm>
            <a:off x="148830" y="-323698"/>
            <a:ext cx="11894340" cy="690542"/>
          </a:xfrm>
          <a:prstGeom prst="roundRect">
            <a:avLst/>
          </a:prstGeom>
          <a:solidFill>
            <a:srgbClr val="430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7" name="Picture 6" descr="A close up of a cell&#10;&#10;Description automatically generated">
            <a:extLst>
              <a:ext uri="{FF2B5EF4-FFF2-40B4-BE49-F238E27FC236}">
                <a16:creationId xmlns:a16="http://schemas.microsoft.com/office/drawing/2014/main" id="{857C718E-0D4E-0A51-BEF6-2397FB606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315967">
            <a:off x="11692140" y="-78314"/>
            <a:ext cx="402329" cy="514856"/>
          </a:xfrm>
          <a:prstGeom prst="rect">
            <a:avLst/>
          </a:prstGeom>
        </p:spPr>
      </p:pic>
      <p:pic>
        <p:nvPicPr>
          <p:cNvPr id="8" name="Picture 7" descr="Mosquito, Insect, Disease, Vector, Biting PNG">
            <a:extLst>
              <a:ext uri="{FF2B5EF4-FFF2-40B4-BE49-F238E27FC236}">
                <a16:creationId xmlns:a16="http://schemas.microsoft.com/office/drawing/2014/main" id="{ED5F5A15-31D3-B9F6-75AA-CFA4883C2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50677">
            <a:off x="11535419" y="17380"/>
            <a:ext cx="741722" cy="419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CBD9B-FA94-7E80-4F67-571AA4C2D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ES_tradnl" noProof="1" smtClean="0"/>
              <a:t>6</a:t>
            </a:fld>
            <a:endParaRPr lang="es-ES_tradnl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8D05A2-07E9-E692-50DF-9A31BA4B8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1425"/>
            <a:ext cx="501650" cy="501650"/>
          </a:xfrm>
          <a:prstGeom prst="rect">
            <a:avLst/>
          </a:prstGeom>
        </p:spPr>
      </p:pic>
      <p:pic>
        <p:nvPicPr>
          <p:cNvPr id="5" name="Picture 4" descr="AMD: Identifying Vector-borne Diseases | AMD | CDC">
            <a:extLst>
              <a:ext uri="{FF2B5EF4-FFF2-40B4-BE49-F238E27FC236}">
                <a16:creationId xmlns:a16="http://schemas.microsoft.com/office/drawing/2014/main" id="{7DCE973B-B971-DFEB-C32F-7BDBDB766E3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7145" flipH="1">
            <a:off x="-168336" y="6401371"/>
            <a:ext cx="786901" cy="442632"/>
          </a:xfrm>
          <a:prstGeom prst="rect">
            <a:avLst/>
          </a:prstGeom>
        </p:spPr>
      </p:pic>
      <p:pic>
        <p:nvPicPr>
          <p:cNvPr id="11" name="Picture 10" descr="&quot;TM.de-Ethikrat&quot; ☕ - FC Bayern München - Forum | Seite 2304 | Transfermarkt">
            <a:extLst>
              <a:ext uri="{FF2B5EF4-FFF2-40B4-BE49-F238E27FC236}">
                <a16:creationId xmlns:a16="http://schemas.microsoft.com/office/drawing/2014/main" id="{4087942F-56C2-8D2C-11CE-E160443934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2895" y="504044"/>
            <a:ext cx="1024281" cy="10242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91061A2-14E7-9B0E-F747-68A66EE55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1325" y="497777"/>
            <a:ext cx="1309632" cy="1027812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8E421F-E936-0857-3618-F8DA84B43BAC}"/>
              </a:ext>
            </a:extLst>
          </p:cNvPr>
          <p:cNvCxnSpPr>
            <a:cxnSpLocks/>
            <a:stCxn id="11" idx="2"/>
            <a:endCxn id="2" idx="0"/>
          </p:cNvCxnSpPr>
          <p:nvPr/>
        </p:nvCxnSpPr>
        <p:spPr>
          <a:xfrm flipH="1">
            <a:off x="3469388" y="1528325"/>
            <a:ext cx="5648" cy="863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EC89730-27C0-09DC-B966-241293B66C2D}"/>
              </a:ext>
            </a:extLst>
          </p:cNvPr>
          <p:cNvSpPr txBox="1"/>
          <p:nvPr/>
        </p:nvSpPr>
        <p:spPr>
          <a:xfrm>
            <a:off x="2638029" y="1525589"/>
            <a:ext cx="1662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noProof="1"/>
              <a:t>Datos de OMS de DALYs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CE8EB48-6183-5329-BE08-4F8F8D0C661A}"/>
              </a:ext>
            </a:extLst>
          </p:cNvPr>
          <p:cNvCxnSpPr>
            <a:cxnSpLocks/>
            <a:stCxn id="22" idx="2"/>
            <a:endCxn id="39" idx="0"/>
          </p:cNvCxnSpPr>
          <p:nvPr/>
        </p:nvCxnSpPr>
        <p:spPr>
          <a:xfrm flipH="1">
            <a:off x="9556140" y="1525589"/>
            <a:ext cx="1" cy="1264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92812AB-F460-5F49-6709-21F1C927DBD2}"/>
              </a:ext>
            </a:extLst>
          </p:cNvPr>
          <p:cNvSpPr txBox="1"/>
          <p:nvPr/>
        </p:nvSpPr>
        <p:spPr>
          <a:xfrm>
            <a:off x="7912519" y="1818430"/>
            <a:ext cx="3127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noProof="1"/>
              <a:t>Datos socioeconómicos y ambientales de GDL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0313E-B2DC-733C-FBBD-606A4A57C38D}"/>
              </a:ext>
            </a:extLst>
          </p:cNvPr>
          <p:cNvSpPr txBox="1"/>
          <p:nvPr/>
        </p:nvSpPr>
        <p:spPr>
          <a:xfrm>
            <a:off x="1159325" y="2392100"/>
            <a:ext cx="4620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noProof="1"/>
              <a:t>Remodelación de conjunto de datos para obtener formato </a:t>
            </a:r>
            <a:r>
              <a:rPr lang="es-ES_tradnl" i="1" noProof="1"/>
              <a:t>tidy</a:t>
            </a:r>
            <a:r>
              <a:rPr lang="es-ES_tradnl" noProof="1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49206A-8A77-959D-2439-6640E24A5FFC}"/>
              </a:ext>
            </a:extLst>
          </p:cNvPr>
          <p:cNvSpPr txBox="1"/>
          <p:nvPr/>
        </p:nvSpPr>
        <p:spPr>
          <a:xfrm>
            <a:off x="1424020" y="3418169"/>
            <a:ext cx="4090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noProof="1"/>
              <a:t>Adición de población por edad y sexo.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4B37B3A-36A8-F7A6-0978-5CC76D25944C}"/>
              </a:ext>
            </a:extLst>
          </p:cNvPr>
          <p:cNvCxnSpPr>
            <a:cxnSpLocks/>
            <a:stCxn id="2" idx="2"/>
            <a:endCxn id="30" idx="0"/>
          </p:cNvCxnSpPr>
          <p:nvPr/>
        </p:nvCxnSpPr>
        <p:spPr>
          <a:xfrm>
            <a:off x="3469388" y="3038431"/>
            <a:ext cx="0" cy="379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A63A38D-863F-AC6B-1D48-72965E260451}"/>
              </a:ext>
            </a:extLst>
          </p:cNvPr>
          <p:cNvSpPr txBox="1"/>
          <p:nvPr/>
        </p:nvSpPr>
        <p:spPr>
          <a:xfrm>
            <a:off x="7510772" y="2790117"/>
            <a:ext cx="40907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noProof="1"/>
              <a:t>Merge de todos los datos relacionados con índice de desarrollo humano clasificados por sexo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35E077C-C6D1-4213-25F1-B6480E5AE2F4}"/>
              </a:ext>
            </a:extLst>
          </p:cNvPr>
          <p:cNvSpPr txBox="1"/>
          <p:nvPr/>
        </p:nvSpPr>
        <p:spPr>
          <a:xfrm>
            <a:off x="3987176" y="4490017"/>
            <a:ext cx="5415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noProof="1"/>
              <a:t>Merge de variables ambientales, socioeconómicas con conjunto de DALYs</a:t>
            </a:r>
          </a:p>
        </p:txBody>
      </p: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BE9EA20F-18CC-203F-5536-BEF10DA9A5C6}"/>
              </a:ext>
            </a:extLst>
          </p:cNvPr>
          <p:cNvCxnSpPr>
            <a:stCxn id="30" idx="2"/>
            <a:endCxn id="53" idx="0"/>
          </p:cNvCxnSpPr>
          <p:nvPr/>
        </p:nvCxnSpPr>
        <p:spPr>
          <a:xfrm rot="16200000" flipH="1">
            <a:off x="4730985" y="2525903"/>
            <a:ext cx="702516" cy="3225711"/>
          </a:xfrm>
          <a:prstGeom prst="curvedConnector3">
            <a:avLst>
              <a:gd name="adj1" fmla="val 5685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A617E6C3-D16F-D7E3-D3DC-97F48E99471E}"/>
              </a:ext>
            </a:extLst>
          </p:cNvPr>
          <p:cNvCxnSpPr>
            <a:stCxn id="53" idx="0"/>
            <a:endCxn id="39" idx="2"/>
          </p:cNvCxnSpPr>
          <p:nvPr/>
        </p:nvCxnSpPr>
        <p:spPr>
          <a:xfrm rot="5400000" flipH="1" flipV="1">
            <a:off x="7737334" y="2671212"/>
            <a:ext cx="776570" cy="2861041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F3925AE-18D1-8F9B-B8AA-B6245E687574}"/>
              </a:ext>
            </a:extLst>
          </p:cNvPr>
          <p:cNvCxnSpPr>
            <a:cxnSpLocks/>
            <a:stCxn id="53" idx="2"/>
            <a:endCxn id="70" idx="0"/>
          </p:cNvCxnSpPr>
          <p:nvPr/>
        </p:nvCxnSpPr>
        <p:spPr>
          <a:xfrm flipH="1">
            <a:off x="6690507" y="5136348"/>
            <a:ext cx="4592" cy="3390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BD1E11D-AF61-376A-FA34-E579C54BF738}"/>
              </a:ext>
            </a:extLst>
          </p:cNvPr>
          <p:cNvSpPr txBox="1"/>
          <p:nvPr/>
        </p:nvSpPr>
        <p:spPr>
          <a:xfrm>
            <a:off x="5468495" y="5475406"/>
            <a:ext cx="2444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noProof="1"/>
              <a:t>Limpieza de datos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A73D1D6-88C8-08DB-96BA-466E48D60DFC}"/>
              </a:ext>
            </a:extLst>
          </p:cNvPr>
          <p:cNvCxnSpPr>
            <a:cxnSpLocks/>
            <a:stCxn id="70" idx="2"/>
            <a:endCxn id="76" idx="0"/>
          </p:cNvCxnSpPr>
          <p:nvPr/>
        </p:nvCxnSpPr>
        <p:spPr>
          <a:xfrm>
            <a:off x="6690507" y="5844738"/>
            <a:ext cx="0" cy="3581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3A00E70C-DE17-EEE1-FD33-863E083A01F3}"/>
              </a:ext>
            </a:extLst>
          </p:cNvPr>
          <p:cNvSpPr txBox="1"/>
          <p:nvPr/>
        </p:nvSpPr>
        <p:spPr>
          <a:xfrm>
            <a:off x="5468495" y="6202918"/>
            <a:ext cx="2444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noProof="1"/>
              <a:t>Análisis</a:t>
            </a:r>
          </a:p>
        </p:txBody>
      </p:sp>
    </p:spTree>
    <p:extLst>
      <p:ext uri="{BB962C8B-B14F-4D97-AF65-F5344CB8AC3E}">
        <p14:creationId xmlns:p14="http://schemas.microsoft.com/office/powerpoint/2010/main" val="34739482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3.7037E-6 L 0.16355 -3.7037E-6 C 0.23672 -3.7037E-6 0.32709 -0.07037 0.32709 -0.12685 L 0.32709 -0.2537 " pathEditMode="relative" rAng="0" ptsTypes="AAAA">
                                      <p:cBhvr>
                                        <p:cTn id="42" dur="10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54" y="-1268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0.00023 L 0.41132 -0.00023 C 0.5957 -0.00023 0.82317 -0.06158 0.82317 -0.11134 L 0.82317 -0.22222 " pathEditMode="relative" rAng="0" ptsTypes="AAAA">
                                      <p:cBhvr>
                                        <p:cTn id="44" dur="1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159" y="-11111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1"/>
      <p:bldP spid="24" grpId="1"/>
      <p:bldP spid="2" grpId="0"/>
      <p:bldP spid="30" grpId="0"/>
      <p:bldP spid="39" grpId="0"/>
      <p:bldP spid="53" grpId="0"/>
      <p:bldP spid="70" grpId="0"/>
      <p:bldP spid="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9D5F3-741D-D5FC-70EF-0DC98D9C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CB491A2-B78F-34F2-81DC-1501586DB0E7}"/>
              </a:ext>
            </a:extLst>
          </p:cNvPr>
          <p:cNvSpPr/>
          <p:nvPr/>
        </p:nvSpPr>
        <p:spPr>
          <a:xfrm>
            <a:off x="219075" y="200026"/>
            <a:ext cx="11725275" cy="6438900"/>
          </a:xfrm>
          <a:custGeom>
            <a:avLst/>
            <a:gdLst>
              <a:gd name="csX0" fmla="*/ 0 w 11725275"/>
              <a:gd name="csY0" fmla="*/ 0 h 6438900"/>
              <a:gd name="csX1" fmla="*/ 11725275 w 11725275"/>
              <a:gd name="csY1" fmla="*/ 0 h 6438900"/>
              <a:gd name="csX2" fmla="*/ 11725275 w 11725275"/>
              <a:gd name="csY2" fmla="*/ 6438900 h 6438900"/>
              <a:gd name="csX3" fmla="*/ 0 w 11725275"/>
              <a:gd name="csY3" fmla="*/ 6438900 h 6438900"/>
              <a:gd name="csX4" fmla="*/ 0 w 11725275"/>
              <a:gd name="csY4" fmla="*/ 0 h 643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25275" h="6438900" extrusionOk="0">
                <a:moveTo>
                  <a:pt x="0" y="0"/>
                </a:moveTo>
                <a:cubicBezTo>
                  <a:pt x="3399955" y="-92938"/>
                  <a:pt x="9971035" y="-73857"/>
                  <a:pt x="11725275" y="0"/>
                </a:cubicBezTo>
                <a:cubicBezTo>
                  <a:pt x="11797118" y="1589663"/>
                  <a:pt x="11880976" y="5521985"/>
                  <a:pt x="11725275" y="6438900"/>
                </a:cubicBezTo>
                <a:cubicBezTo>
                  <a:pt x="9122253" y="6477114"/>
                  <a:pt x="5766231" y="6525681"/>
                  <a:pt x="0" y="6438900"/>
                </a:cubicBezTo>
                <a:cubicBezTo>
                  <a:pt x="-79000" y="4482847"/>
                  <a:pt x="77204" y="117320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430E02"/>
            </a:solidFill>
            <a:extLst>
              <a:ext uri="{C807C97D-BFC1-408E-A445-0C87EB9F89A2}">
                <ask:lineSketchStyleProps xmlns:ask="http://schemas.microsoft.com/office/drawing/2018/sketchyshapes" sd="117700768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9885225-5723-BB2C-AE17-B67F297C7849}"/>
              </a:ext>
            </a:extLst>
          </p:cNvPr>
          <p:cNvSpPr/>
          <p:nvPr/>
        </p:nvSpPr>
        <p:spPr>
          <a:xfrm>
            <a:off x="148830" y="-323698"/>
            <a:ext cx="11894340" cy="690542"/>
          </a:xfrm>
          <a:prstGeom prst="roundRect">
            <a:avLst/>
          </a:prstGeom>
          <a:solidFill>
            <a:srgbClr val="430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7" name="Picture 6" descr="A close up of a cell&#10;&#10;Description automatically generated">
            <a:extLst>
              <a:ext uri="{FF2B5EF4-FFF2-40B4-BE49-F238E27FC236}">
                <a16:creationId xmlns:a16="http://schemas.microsoft.com/office/drawing/2014/main" id="{6EFD8731-C957-AE22-EAB0-70BEC35D8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315967">
            <a:off x="11692140" y="-78314"/>
            <a:ext cx="402329" cy="514856"/>
          </a:xfrm>
          <a:prstGeom prst="rect">
            <a:avLst/>
          </a:prstGeom>
        </p:spPr>
      </p:pic>
      <p:pic>
        <p:nvPicPr>
          <p:cNvPr id="8" name="Picture 7" descr="Mosquito, Insect, Disease, Vector, Biting PNG">
            <a:extLst>
              <a:ext uri="{FF2B5EF4-FFF2-40B4-BE49-F238E27FC236}">
                <a16:creationId xmlns:a16="http://schemas.microsoft.com/office/drawing/2014/main" id="{F08D7A9B-6605-53AB-8184-9272C1000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50677">
            <a:off x="11535419" y="17380"/>
            <a:ext cx="741722" cy="419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FB7FA-7F9E-BF5D-20C5-071FFC375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ES_tradnl" noProof="1" smtClean="0"/>
              <a:t>7</a:t>
            </a:fld>
            <a:endParaRPr lang="es-ES_tradnl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9ABEAA-98B8-1C90-335C-7CAE4CC8F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1425"/>
            <a:ext cx="501650" cy="501650"/>
          </a:xfrm>
          <a:prstGeom prst="rect">
            <a:avLst/>
          </a:prstGeom>
        </p:spPr>
      </p:pic>
      <p:pic>
        <p:nvPicPr>
          <p:cNvPr id="5" name="Picture 4" descr="AMD: Identifying Vector-borne Diseases | AMD | CDC">
            <a:extLst>
              <a:ext uri="{FF2B5EF4-FFF2-40B4-BE49-F238E27FC236}">
                <a16:creationId xmlns:a16="http://schemas.microsoft.com/office/drawing/2014/main" id="{88C94283-EE26-4F8F-1481-6C6DFE28A62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7145" flipH="1">
            <a:off x="-168336" y="6401371"/>
            <a:ext cx="786901" cy="442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A91B39-E13F-B016-2612-B0624ABE6EE6}"/>
              </a:ext>
            </a:extLst>
          </p:cNvPr>
          <p:cNvSpPr txBox="1"/>
          <p:nvPr/>
        </p:nvSpPr>
        <p:spPr>
          <a:xfrm>
            <a:off x="7015438" y="3016373"/>
            <a:ext cx="50122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s-ES_tradnl" noProof="1"/>
            </a:br>
            <a:endParaRPr lang="es-ES_tradnl" noProof="1"/>
          </a:p>
          <a:p>
            <a:pPr algn="just" rtl="0">
              <a:buNone/>
            </a:pPr>
            <a:r>
              <a:rPr lang="es-ES_tradnl" sz="1800" b="0" i="0" u="none" strike="noStrike" noProof="1">
                <a:solidFill>
                  <a:srgbClr val="000000"/>
                </a:solidFill>
                <a:effectLst/>
                <a:latin typeface="Lexend"/>
              </a:rPr>
              <a:t>Carlson et al., 2025 </a:t>
            </a:r>
            <a:endParaRPr lang="es-ES_tradnl" noProof="1">
              <a:effectLst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40A9F88-02EB-EFC7-E64F-3741F166D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7722"/>
            <a:ext cx="10515600" cy="4705945"/>
          </a:xfrm>
        </p:spPr>
        <p:txBody>
          <a:bodyPr>
            <a:normAutofit/>
          </a:bodyPr>
          <a:lstStyle/>
          <a:p>
            <a:pPr lvl="0"/>
            <a:r>
              <a:rPr lang="es-ES_tradnl" sz="3600" noProof="1"/>
              <a:t>¿Cómo ha evolucionado la carga de NTDs a nivel global, desde 2000 hasta 2021?</a:t>
            </a:r>
          </a:p>
          <a:p>
            <a:pPr lvl="0"/>
            <a:r>
              <a:rPr lang="es-ES_tradnl" sz="3600" noProof="1"/>
              <a:t>¿Qué enfermedades contribuyen más a la carga mundial de NTDs?</a:t>
            </a:r>
          </a:p>
          <a:p>
            <a:pPr lvl="0"/>
            <a:r>
              <a:rPr lang="es-ES_tradnl" sz="3600" noProof="1"/>
              <a:t>¿Qué variables explican el cambio a lo largo del tiempo y es posible que éstas también expliquen cambios en el futuro?</a:t>
            </a:r>
          </a:p>
          <a:p>
            <a:endParaRPr lang="es-ES_tradnl" sz="3600" noProof="1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76D3724-74CE-9B13-1082-4AE33A1F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4512"/>
            <a:ext cx="10515600" cy="1325563"/>
          </a:xfrm>
        </p:spPr>
        <p:txBody>
          <a:bodyPr/>
          <a:lstStyle/>
          <a:p>
            <a:r>
              <a:rPr lang="es-ES_tradnl" noProof="1"/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1483532894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08618-9290-6965-23CD-840B42E1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123045B-147F-DB7A-6D3C-ECD9F904BD9C}"/>
              </a:ext>
            </a:extLst>
          </p:cNvPr>
          <p:cNvSpPr/>
          <p:nvPr/>
        </p:nvSpPr>
        <p:spPr>
          <a:xfrm>
            <a:off x="219075" y="200026"/>
            <a:ext cx="11725275" cy="6438900"/>
          </a:xfrm>
          <a:custGeom>
            <a:avLst/>
            <a:gdLst>
              <a:gd name="csX0" fmla="*/ 0 w 11725275"/>
              <a:gd name="csY0" fmla="*/ 0 h 6438900"/>
              <a:gd name="csX1" fmla="*/ 11725275 w 11725275"/>
              <a:gd name="csY1" fmla="*/ 0 h 6438900"/>
              <a:gd name="csX2" fmla="*/ 11725275 w 11725275"/>
              <a:gd name="csY2" fmla="*/ 6438900 h 6438900"/>
              <a:gd name="csX3" fmla="*/ 0 w 11725275"/>
              <a:gd name="csY3" fmla="*/ 6438900 h 6438900"/>
              <a:gd name="csX4" fmla="*/ 0 w 11725275"/>
              <a:gd name="csY4" fmla="*/ 0 h 643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25275" h="6438900" extrusionOk="0">
                <a:moveTo>
                  <a:pt x="0" y="0"/>
                </a:moveTo>
                <a:cubicBezTo>
                  <a:pt x="3399955" y="-92938"/>
                  <a:pt x="9971035" y="-73857"/>
                  <a:pt x="11725275" y="0"/>
                </a:cubicBezTo>
                <a:cubicBezTo>
                  <a:pt x="11797118" y="1589663"/>
                  <a:pt x="11880976" y="5521985"/>
                  <a:pt x="11725275" y="6438900"/>
                </a:cubicBezTo>
                <a:cubicBezTo>
                  <a:pt x="9122253" y="6477114"/>
                  <a:pt x="5766231" y="6525681"/>
                  <a:pt x="0" y="6438900"/>
                </a:cubicBezTo>
                <a:cubicBezTo>
                  <a:pt x="-79000" y="4482847"/>
                  <a:pt x="77204" y="117320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430E02"/>
            </a:solidFill>
            <a:extLst>
              <a:ext uri="{C807C97D-BFC1-408E-A445-0C87EB9F89A2}">
                <ask:lineSketchStyleProps xmlns:ask="http://schemas.microsoft.com/office/drawing/2018/sketchyshapes" sd="117700768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990E83F-D8AB-FDDA-BEA4-17FDC1C304E3}"/>
              </a:ext>
            </a:extLst>
          </p:cNvPr>
          <p:cNvSpPr/>
          <p:nvPr/>
        </p:nvSpPr>
        <p:spPr>
          <a:xfrm>
            <a:off x="148830" y="-323698"/>
            <a:ext cx="11894340" cy="690542"/>
          </a:xfrm>
          <a:prstGeom prst="roundRect">
            <a:avLst/>
          </a:prstGeom>
          <a:solidFill>
            <a:srgbClr val="430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7" name="Picture 6" descr="A close up of a cell&#10;&#10;Description automatically generated">
            <a:extLst>
              <a:ext uri="{FF2B5EF4-FFF2-40B4-BE49-F238E27FC236}">
                <a16:creationId xmlns:a16="http://schemas.microsoft.com/office/drawing/2014/main" id="{9A673DB4-1567-0C1C-7543-417687430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315967">
            <a:off x="11692140" y="-78314"/>
            <a:ext cx="402329" cy="514856"/>
          </a:xfrm>
          <a:prstGeom prst="rect">
            <a:avLst/>
          </a:prstGeom>
        </p:spPr>
      </p:pic>
      <p:pic>
        <p:nvPicPr>
          <p:cNvPr id="8" name="Picture 7" descr="Mosquito, Insect, Disease, Vector, Biting PNG">
            <a:extLst>
              <a:ext uri="{FF2B5EF4-FFF2-40B4-BE49-F238E27FC236}">
                <a16:creationId xmlns:a16="http://schemas.microsoft.com/office/drawing/2014/main" id="{C7B950A4-05D8-2A34-BFCB-12C643B49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50677">
            <a:off x="11535419" y="17380"/>
            <a:ext cx="741722" cy="419300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BEEFC64-E0BF-9979-9545-A0340E5AD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261936" y="1669625"/>
            <a:ext cx="7668127" cy="507260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DE5D9-DFEF-65B3-1C15-A6CB1BCB5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ES_tradnl" noProof="1" smtClean="0"/>
              <a:t>8</a:t>
            </a:fld>
            <a:endParaRPr lang="es-ES_tradnl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18B94A-1CD0-3CAE-C0F5-FE70971C8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1425"/>
            <a:ext cx="501650" cy="501650"/>
          </a:xfrm>
          <a:prstGeom prst="rect">
            <a:avLst/>
          </a:prstGeom>
        </p:spPr>
      </p:pic>
      <p:pic>
        <p:nvPicPr>
          <p:cNvPr id="5" name="Picture 4" descr="AMD: Identifying Vector-borne Diseases | AMD | CDC">
            <a:extLst>
              <a:ext uri="{FF2B5EF4-FFF2-40B4-BE49-F238E27FC236}">
                <a16:creationId xmlns:a16="http://schemas.microsoft.com/office/drawing/2014/main" id="{46A8558D-FECF-80ED-5B12-D0326D19547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7145" flipH="1">
            <a:off x="-168336" y="6401371"/>
            <a:ext cx="786901" cy="4426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73C88F-F9D1-46AB-02E3-B909327962E1}"/>
              </a:ext>
            </a:extLst>
          </p:cNvPr>
          <p:cNvSpPr txBox="1"/>
          <p:nvPr/>
        </p:nvSpPr>
        <p:spPr>
          <a:xfrm>
            <a:off x="6658433" y="650177"/>
            <a:ext cx="5387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ES_tradnl" noProof="1">
                <a:solidFill>
                  <a:schemeClr val="tx2">
                    <a:lumMod val="75000"/>
                  </a:schemeClr>
                </a:solidFill>
              </a:rPr>
              <a:t>¿Cómo ha evolucionado la carga de NTDs a nivel global, desde 2000 hasta 2021?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0828853-7A52-E770-C32E-E643B7B88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21" y="267672"/>
            <a:ext cx="6192112" cy="1325563"/>
          </a:xfrm>
        </p:spPr>
        <p:txBody>
          <a:bodyPr>
            <a:normAutofit/>
          </a:bodyPr>
          <a:lstStyle/>
          <a:p>
            <a:r>
              <a:rPr lang="es-ES_tradnl" sz="2400" noProof="1"/>
              <a:t>Ha habido una reducción en años recientes en la carga de NTDs.</a:t>
            </a:r>
          </a:p>
        </p:txBody>
      </p:sp>
    </p:spTree>
    <p:extLst>
      <p:ext uri="{BB962C8B-B14F-4D97-AF65-F5344CB8AC3E}">
        <p14:creationId xmlns:p14="http://schemas.microsoft.com/office/powerpoint/2010/main" val="152770529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C7058-A677-5546-3186-18D6A9644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3E37A4A-C888-7892-1A98-34A0E5E94917}"/>
              </a:ext>
            </a:extLst>
          </p:cNvPr>
          <p:cNvSpPr/>
          <p:nvPr/>
        </p:nvSpPr>
        <p:spPr>
          <a:xfrm>
            <a:off x="219075" y="200026"/>
            <a:ext cx="11725275" cy="6438900"/>
          </a:xfrm>
          <a:custGeom>
            <a:avLst/>
            <a:gdLst>
              <a:gd name="csX0" fmla="*/ 0 w 11725275"/>
              <a:gd name="csY0" fmla="*/ 0 h 6438900"/>
              <a:gd name="csX1" fmla="*/ 11725275 w 11725275"/>
              <a:gd name="csY1" fmla="*/ 0 h 6438900"/>
              <a:gd name="csX2" fmla="*/ 11725275 w 11725275"/>
              <a:gd name="csY2" fmla="*/ 6438900 h 6438900"/>
              <a:gd name="csX3" fmla="*/ 0 w 11725275"/>
              <a:gd name="csY3" fmla="*/ 6438900 h 6438900"/>
              <a:gd name="csX4" fmla="*/ 0 w 11725275"/>
              <a:gd name="csY4" fmla="*/ 0 h 643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25275" h="6438900" extrusionOk="0">
                <a:moveTo>
                  <a:pt x="0" y="0"/>
                </a:moveTo>
                <a:cubicBezTo>
                  <a:pt x="3399955" y="-92938"/>
                  <a:pt x="9971035" y="-73857"/>
                  <a:pt x="11725275" y="0"/>
                </a:cubicBezTo>
                <a:cubicBezTo>
                  <a:pt x="11797118" y="1589663"/>
                  <a:pt x="11880976" y="5521985"/>
                  <a:pt x="11725275" y="6438900"/>
                </a:cubicBezTo>
                <a:cubicBezTo>
                  <a:pt x="9122253" y="6477114"/>
                  <a:pt x="5766231" y="6525681"/>
                  <a:pt x="0" y="6438900"/>
                </a:cubicBezTo>
                <a:cubicBezTo>
                  <a:pt x="-79000" y="4482847"/>
                  <a:pt x="77204" y="117320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430E02"/>
            </a:solidFill>
            <a:extLst>
              <a:ext uri="{C807C97D-BFC1-408E-A445-0C87EB9F89A2}">
                <ask:lineSketchStyleProps xmlns:ask="http://schemas.microsoft.com/office/drawing/2018/sketchyshapes" sd="117700768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0656A9-0A08-52EF-B535-6C8EB8663F61}"/>
              </a:ext>
            </a:extLst>
          </p:cNvPr>
          <p:cNvSpPr/>
          <p:nvPr/>
        </p:nvSpPr>
        <p:spPr>
          <a:xfrm>
            <a:off x="148830" y="-323698"/>
            <a:ext cx="11894340" cy="690542"/>
          </a:xfrm>
          <a:prstGeom prst="roundRect">
            <a:avLst/>
          </a:prstGeom>
          <a:solidFill>
            <a:srgbClr val="430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7" name="Picture 6" descr="A close up of a cell&#10;&#10;Description automatically generated">
            <a:extLst>
              <a:ext uri="{FF2B5EF4-FFF2-40B4-BE49-F238E27FC236}">
                <a16:creationId xmlns:a16="http://schemas.microsoft.com/office/drawing/2014/main" id="{FFB55865-5A75-B3C1-280D-6B4EF2547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315967">
            <a:off x="11692140" y="-78314"/>
            <a:ext cx="402329" cy="514856"/>
          </a:xfrm>
          <a:prstGeom prst="rect">
            <a:avLst/>
          </a:prstGeom>
        </p:spPr>
      </p:pic>
      <p:pic>
        <p:nvPicPr>
          <p:cNvPr id="8" name="Picture 7" descr="Mosquito, Insect, Disease, Vector, Biting PNG">
            <a:extLst>
              <a:ext uri="{FF2B5EF4-FFF2-40B4-BE49-F238E27FC236}">
                <a16:creationId xmlns:a16="http://schemas.microsoft.com/office/drawing/2014/main" id="{F98ED20C-F4AE-2A56-77AC-14B6192B4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50677">
            <a:off x="11535419" y="17380"/>
            <a:ext cx="741722" cy="419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2A017-BD07-A0D3-8363-1315B828B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ES_tradnl" noProof="1" smtClean="0"/>
              <a:t>9</a:t>
            </a:fld>
            <a:endParaRPr lang="es-ES_tradnl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26548A-0C30-259A-FED2-7990ED8C8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1425"/>
            <a:ext cx="501650" cy="501650"/>
          </a:xfrm>
          <a:prstGeom prst="rect">
            <a:avLst/>
          </a:prstGeom>
        </p:spPr>
      </p:pic>
      <p:pic>
        <p:nvPicPr>
          <p:cNvPr id="5" name="Picture 4" descr="AMD: Identifying Vector-borne Diseases | AMD | CDC">
            <a:extLst>
              <a:ext uri="{FF2B5EF4-FFF2-40B4-BE49-F238E27FC236}">
                <a16:creationId xmlns:a16="http://schemas.microsoft.com/office/drawing/2014/main" id="{1A359023-6F37-87FC-227B-CE64296B0A9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7145" flipH="1">
            <a:off x="-168336" y="6401371"/>
            <a:ext cx="786901" cy="442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D3F9CF-5CCD-3B80-AEB4-41F11D795538}"/>
              </a:ext>
            </a:extLst>
          </p:cNvPr>
          <p:cNvSpPr txBox="1"/>
          <p:nvPr/>
        </p:nvSpPr>
        <p:spPr>
          <a:xfrm>
            <a:off x="7015438" y="3016373"/>
            <a:ext cx="50122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s-ES_tradnl" noProof="1"/>
            </a:br>
            <a:endParaRPr lang="es-ES_tradnl" noProof="1"/>
          </a:p>
          <a:p>
            <a:pPr algn="just" rtl="0">
              <a:buNone/>
            </a:pPr>
            <a:r>
              <a:rPr lang="es-ES_tradnl" sz="1800" b="0" i="0" u="none" strike="noStrike" noProof="1">
                <a:solidFill>
                  <a:srgbClr val="000000"/>
                </a:solidFill>
                <a:effectLst/>
                <a:latin typeface="Lexend"/>
              </a:rPr>
              <a:t>Carlson et al., 2025 </a:t>
            </a:r>
            <a:endParaRPr lang="es-ES_tradnl" noProof="1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80AEF6-DBCA-3192-A0B8-E9CECB4CF8F9}"/>
              </a:ext>
            </a:extLst>
          </p:cNvPr>
          <p:cNvSpPr txBox="1"/>
          <p:nvPr/>
        </p:nvSpPr>
        <p:spPr>
          <a:xfrm>
            <a:off x="6506033" y="497777"/>
            <a:ext cx="5387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ES_tradnl" noProof="1">
                <a:solidFill>
                  <a:schemeClr val="tx2">
                    <a:lumMod val="75000"/>
                  </a:schemeClr>
                </a:solidFill>
              </a:rPr>
              <a:t>¿Qué enfermedades contribuyen más a la carga mundial de NTDs?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FC4750-56FB-478F-4253-E1DEBD981A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9795" y="1700591"/>
            <a:ext cx="8980710" cy="5107819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6E382B6D-58AC-F3AA-EA85-81E2B1A2B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21" y="267672"/>
            <a:ext cx="6192112" cy="1325563"/>
          </a:xfrm>
        </p:spPr>
        <p:txBody>
          <a:bodyPr>
            <a:normAutofit/>
          </a:bodyPr>
          <a:lstStyle/>
          <a:p>
            <a:r>
              <a:rPr lang="es-ES_tradnl" sz="2400" noProof="1"/>
              <a:t>Las enfermedades más contribuyen son Malaria, Rabia y Dengue.</a:t>
            </a:r>
          </a:p>
        </p:txBody>
      </p:sp>
    </p:spTree>
    <p:extLst>
      <p:ext uri="{BB962C8B-B14F-4D97-AF65-F5344CB8AC3E}">
        <p14:creationId xmlns:p14="http://schemas.microsoft.com/office/powerpoint/2010/main" val="362473155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3BF2B-773F-E7DB-ADED-5B494FC08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0BB48D3-FE8D-5829-EF93-EC470AD09B16}"/>
              </a:ext>
            </a:extLst>
          </p:cNvPr>
          <p:cNvSpPr/>
          <p:nvPr/>
        </p:nvSpPr>
        <p:spPr>
          <a:xfrm>
            <a:off x="219075" y="200026"/>
            <a:ext cx="11725275" cy="6438900"/>
          </a:xfrm>
          <a:custGeom>
            <a:avLst/>
            <a:gdLst>
              <a:gd name="csX0" fmla="*/ 0 w 11725275"/>
              <a:gd name="csY0" fmla="*/ 0 h 6438900"/>
              <a:gd name="csX1" fmla="*/ 11725275 w 11725275"/>
              <a:gd name="csY1" fmla="*/ 0 h 6438900"/>
              <a:gd name="csX2" fmla="*/ 11725275 w 11725275"/>
              <a:gd name="csY2" fmla="*/ 6438900 h 6438900"/>
              <a:gd name="csX3" fmla="*/ 0 w 11725275"/>
              <a:gd name="csY3" fmla="*/ 6438900 h 6438900"/>
              <a:gd name="csX4" fmla="*/ 0 w 11725275"/>
              <a:gd name="csY4" fmla="*/ 0 h 643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25275" h="6438900" extrusionOk="0">
                <a:moveTo>
                  <a:pt x="0" y="0"/>
                </a:moveTo>
                <a:cubicBezTo>
                  <a:pt x="3399955" y="-92938"/>
                  <a:pt x="9971035" y="-73857"/>
                  <a:pt x="11725275" y="0"/>
                </a:cubicBezTo>
                <a:cubicBezTo>
                  <a:pt x="11797118" y="1589663"/>
                  <a:pt x="11880976" y="5521985"/>
                  <a:pt x="11725275" y="6438900"/>
                </a:cubicBezTo>
                <a:cubicBezTo>
                  <a:pt x="9122253" y="6477114"/>
                  <a:pt x="5766231" y="6525681"/>
                  <a:pt x="0" y="6438900"/>
                </a:cubicBezTo>
                <a:cubicBezTo>
                  <a:pt x="-79000" y="4482847"/>
                  <a:pt x="77204" y="117320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430E02"/>
            </a:solidFill>
            <a:extLst>
              <a:ext uri="{C807C97D-BFC1-408E-A445-0C87EB9F89A2}">
                <ask:lineSketchStyleProps xmlns:ask="http://schemas.microsoft.com/office/drawing/2018/sketchyshapes" sd="117700768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51CCA14-77EA-A2FD-00FC-802863B2C705}"/>
              </a:ext>
            </a:extLst>
          </p:cNvPr>
          <p:cNvSpPr/>
          <p:nvPr/>
        </p:nvSpPr>
        <p:spPr>
          <a:xfrm>
            <a:off x="148830" y="-323698"/>
            <a:ext cx="11894340" cy="690542"/>
          </a:xfrm>
          <a:prstGeom prst="roundRect">
            <a:avLst/>
          </a:prstGeom>
          <a:solidFill>
            <a:srgbClr val="430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7" name="Picture 6" descr="A close up of a cell&#10;&#10;Description automatically generated">
            <a:extLst>
              <a:ext uri="{FF2B5EF4-FFF2-40B4-BE49-F238E27FC236}">
                <a16:creationId xmlns:a16="http://schemas.microsoft.com/office/drawing/2014/main" id="{11503CE9-9125-3107-31D4-CE374EA89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315967">
            <a:off x="11692140" y="-78314"/>
            <a:ext cx="402329" cy="514856"/>
          </a:xfrm>
          <a:prstGeom prst="rect">
            <a:avLst/>
          </a:prstGeom>
        </p:spPr>
      </p:pic>
      <p:pic>
        <p:nvPicPr>
          <p:cNvPr id="8" name="Picture 7" descr="Mosquito, Insect, Disease, Vector, Biting PNG">
            <a:extLst>
              <a:ext uri="{FF2B5EF4-FFF2-40B4-BE49-F238E27FC236}">
                <a16:creationId xmlns:a16="http://schemas.microsoft.com/office/drawing/2014/main" id="{6ACD2C1F-B7D5-F22C-E60C-7617FAF6E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50677">
            <a:off x="11535419" y="17380"/>
            <a:ext cx="741722" cy="419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E10E0B-451F-450D-A491-E595145DF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21" y="267672"/>
            <a:ext cx="6192112" cy="1325563"/>
          </a:xfrm>
        </p:spPr>
        <p:txBody>
          <a:bodyPr>
            <a:normAutofit/>
          </a:bodyPr>
          <a:lstStyle/>
          <a:p>
            <a:r>
              <a:rPr lang="es-ES_tradnl" sz="2400" noProof="1"/>
              <a:t>Evolución de DALYs y las enfermedades que más contribuyen a la carga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53575-463D-BF39-AA80-25513500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ES_tradnl" noProof="1" smtClean="0"/>
              <a:t>10</a:t>
            </a:fld>
            <a:endParaRPr lang="es-ES_tradnl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A10F55-CAFF-6BE6-7B74-0FD0ED9CC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1425"/>
            <a:ext cx="501650" cy="501650"/>
          </a:xfrm>
          <a:prstGeom prst="rect">
            <a:avLst/>
          </a:prstGeom>
        </p:spPr>
      </p:pic>
      <p:pic>
        <p:nvPicPr>
          <p:cNvPr id="5" name="Picture 4" descr="AMD: Identifying Vector-borne Diseases | AMD | CDC">
            <a:extLst>
              <a:ext uri="{FF2B5EF4-FFF2-40B4-BE49-F238E27FC236}">
                <a16:creationId xmlns:a16="http://schemas.microsoft.com/office/drawing/2014/main" id="{BC4FD5EF-2B50-FC79-586F-823F5F2052D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7145" flipH="1">
            <a:off x="-168336" y="6401371"/>
            <a:ext cx="786901" cy="442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14CE4C-E3E1-A7C9-3C24-7B4BE9EA851D}"/>
              </a:ext>
            </a:extLst>
          </p:cNvPr>
          <p:cNvSpPr txBox="1"/>
          <p:nvPr/>
        </p:nvSpPr>
        <p:spPr>
          <a:xfrm>
            <a:off x="7015438" y="3016373"/>
            <a:ext cx="50122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s-ES_tradnl" noProof="1"/>
            </a:br>
            <a:endParaRPr lang="es-ES_tradnl" noProof="1"/>
          </a:p>
          <a:p>
            <a:pPr algn="just" rtl="0">
              <a:buNone/>
            </a:pPr>
            <a:r>
              <a:rPr lang="es-ES_tradnl" sz="1800" b="0" i="0" u="none" strike="noStrike" noProof="1">
                <a:solidFill>
                  <a:srgbClr val="000000"/>
                </a:solidFill>
                <a:effectLst/>
                <a:latin typeface="Lexend"/>
              </a:rPr>
              <a:t>Carlson et al., 2025 </a:t>
            </a:r>
            <a:endParaRPr lang="es-ES_tradnl" noProof="1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EAC57-07B4-5A78-4D58-78FC2B229B78}"/>
              </a:ext>
            </a:extLst>
          </p:cNvPr>
          <p:cNvSpPr txBox="1"/>
          <p:nvPr/>
        </p:nvSpPr>
        <p:spPr>
          <a:xfrm>
            <a:off x="6658433" y="650177"/>
            <a:ext cx="5387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ES_tradnl" noProof="1">
                <a:solidFill>
                  <a:schemeClr val="tx2">
                    <a:lumMod val="75000"/>
                  </a:schemeClr>
                </a:solidFill>
              </a:rPr>
              <a:t>¿Qué enfermedades contribuyen más a la carga mundial de NTDs?</a:t>
            </a:r>
          </a:p>
        </p:txBody>
      </p:sp>
      <p:pic>
        <p:nvPicPr>
          <p:cNvPr id="12" name="Content Placeholder 17">
            <a:extLst>
              <a:ext uri="{FF2B5EF4-FFF2-40B4-BE49-F238E27FC236}">
                <a16:creationId xmlns:a16="http://schemas.microsoft.com/office/drawing/2014/main" id="{5E31A833-565A-E352-8382-94BD4FBB85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22"/>
          <a:stretch>
            <a:fillRect/>
          </a:stretch>
        </p:blipFill>
        <p:spPr>
          <a:xfrm>
            <a:off x="1210078" y="1472570"/>
            <a:ext cx="9771843" cy="509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22542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3CB7F-D00E-ED82-FA48-C86E54CC9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3E98706-32A6-BA2B-1167-9434FF75CE96}"/>
              </a:ext>
            </a:extLst>
          </p:cNvPr>
          <p:cNvSpPr/>
          <p:nvPr/>
        </p:nvSpPr>
        <p:spPr>
          <a:xfrm>
            <a:off x="219075" y="200026"/>
            <a:ext cx="11725275" cy="6438900"/>
          </a:xfrm>
          <a:custGeom>
            <a:avLst/>
            <a:gdLst>
              <a:gd name="csX0" fmla="*/ 0 w 11725275"/>
              <a:gd name="csY0" fmla="*/ 0 h 6438900"/>
              <a:gd name="csX1" fmla="*/ 11725275 w 11725275"/>
              <a:gd name="csY1" fmla="*/ 0 h 6438900"/>
              <a:gd name="csX2" fmla="*/ 11725275 w 11725275"/>
              <a:gd name="csY2" fmla="*/ 6438900 h 6438900"/>
              <a:gd name="csX3" fmla="*/ 0 w 11725275"/>
              <a:gd name="csY3" fmla="*/ 6438900 h 6438900"/>
              <a:gd name="csX4" fmla="*/ 0 w 11725275"/>
              <a:gd name="csY4" fmla="*/ 0 h 643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25275" h="6438900" extrusionOk="0">
                <a:moveTo>
                  <a:pt x="0" y="0"/>
                </a:moveTo>
                <a:cubicBezTo>
                  <a:pt x="3399955" y="-92938"/>
                  <a:pt x="9971035" y="-73857"/>
                  <a:pt x="11725275" y="0"/>
                </a:cubicBezTo>
                <a:cubicBezTo>
                  <a:pt x="11797118" y="1589663"/>
                  <a:pt x="11880976" y="5521985"/>
                  <a:pt x="11725275" y="6438900"/>
                </a:cubicBezTo>
                <a:cubicBezTo>
                  <a:pt x="9122253" y="6477114"/>
                  <a:pt x="5766231" y="6525681"/>
                  <a:pt x="0" y="6438900"/>
                </a:cubicBezTo>
                <a:cubicBezTo>
                  <a:pt x="-79000" y="4482847"/>
                  <a:pt x="77204" y="117320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430E02"/>
            </a:solidFill>
            <a:extLst>
              <a:ext uri="{C807C97D-BFC1-408E-A445-0C87EB9F89A2}">
                <ask:lineSketchStyleProps xmlns:ask="http://schemas.microsoft.com/office/drawing/2018/sketchyshapes" sd="117700768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268AB4-CAEF-1128-B1DA-BE2F6A7E79E7}"/>
              </a:ext>
            </a:extLst>
          </p:cNvPr>
          <p:cNvSpPr/>
          <p:nvPr/>
        </p:nvSpPr>
        <p:spPr>
          <a:xfrm>
            <a:off x="148830" y="-323698"/>
            <a:ext cx="11894340" cy="690542"/>
          </a:xfrm>
          <a:prstGeom prst="roundRect">
            <a:avLst/>
          </a:prstGeom>
          <a:solidFill>
            <a:srgbClr val="430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7" name="Picture 6" descr="A close up of a cell&#10;&#10;Description automatically generated">
            <a:extLst>
              <a:ext uri="{FF2B5EF4-FFF2-40B4-BE49-F238E27FC236}">
                <a16:creationId xmlns:a16="http://schemas.microsoft.com/office/drawing/2014/main" id="{552CDEA2-C983-D756-9187-CBFDA983F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315967">
            <a:off x="11692140" y="-78314"/>
            <a:ext cx="402329" cy="514856"/>
          </a:xfrm>
          <a:prstGeom prst="rect">
            <a:avLst/>
          </a:prstGeom>
        </p:spPr>
      </p:pic>
      <p:pic>
        <p:nvPicPr>
          <p:cNvPr id="8" name="Picture 7" descr="Mosquito, Insect, Disease, Vector, Biting PNG">
            <a:extLst>
              <a:ext uri="{FF2B5EF4-FFF2-40B4-BE49-F238E27FC236}">
                <a16:creationId xmlns:a16="http://schemas.microsoft.com/office/drawing/2014/main" id="{4D36FD8B-372B-88BF-51D5-614D98E41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50677">
            <a:off x="11535419" y="17380"/>
            <a:ext cx="741722" cy="419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F2652-5297-F281-B1FC-FFB972EDB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ES_tradnl" noProof="1" smtClean="0"/>
              <a:t>11</a:t>
            </a:fld>
            <a:endParaRPr lang="es-ES_tradnl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33C18C-C33F-8853-905C-F674E3243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1425"/>
            <a:ext cx="501650" cy="501650"/>
          </a:xfrm>
          <a:prstGeom prst="rect">
            <a:avLst/>
          </a:prstGeom>
        </p:spPr>
      </p:pic>
      <p:pic>
        <p:nvPicPr>
          <p:cNvPr id="5" name="Picture 4" descr="AMD: Identifying Vector-borne Diseases | AMD | CDC">
            <a:extLst>
              <a:ext uri="{FF2B5EF4-FFF2-40B4-BE49-F238E27FC236}">
                <a16:creationId xmlns:a16="http://schemas.microsoft.com/office/drawing/2014/main" id="{A423C0CE-FE09-9D46-00B5-C26C1286B38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7145" flipH="1">
            <a:off x="-168336" y="6401371"/>
            <a:ext cx="786901" cy="442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EB09F0-56D7-A4B6-0EBC-57E3C603419A}"/>
              </a:ext>
            </a:extLst>
          </p:cNvPr>
          <p:cNvSpPr txBox="1"/>
          <p:nvPr/>
        </p:nvSpPr>
        <p:spPr>
          <a:xfrm>
            <a:off x="7015438" y="3016373"/>
            <a:ext cx="50122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s-ES_tradnl" noProof="1"/>
            </a:br>
            <a:endParaRPr lang="es-ES_tradnl" noProof="1"/>
          </a:p>
          <a:p>
            <a:pPr algn="just" rtl="0">
              <a:buNone/>
            </a:pPr>
            <a:r>
              <a:rPr lang="es-ES_tradnl" sz="1800" b="0" i="0" u="none" strike="noStrike" noProof="1">
                <a:solidFill>
                  <a:srgbClr val="000000"/>
                </a:solidFill>
                <a:effectLst/>
                <a:latin typeface="Lexend"/>
              </a:rPr>
              <a:t>Carlson et al., 2025 </a:t>
            </a:r>
            <a:endParaRPr lang="es-ES_tradnl" noProof="1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2DABD1-CC00-A95E-A88B-158B371BD8B2}"/>
              </a:ext>
            </a:extLst>
          </p:cNvPr>
          <p:cNvSpPr txBox="1"/>
          <p:nvPr/>
        </p:nvSpPr>
        <p:spPr>
          <a:xfrm>
            <a:off x="4831593" y="497777"/>
            <a:ext cx="71127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MX" noProof="1">
                <a:solidFill>
                  <a:schemeClr val="tx2">
                    <a:lumMod val="75000"/>
                  </a:schemeClr>
                </a:solidFill>
              </a:rPr>
              <a:t>¿Qué variables explican el cambio a lo largo del tiempo y es posible que éstas también expliquen el cambio dado en el futuro?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AF9FBE-B4F9-F9DA-11C6-798755AA96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364" y="1189292"/>
            <a:ext cx="5675488" cy="5500821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A3E4EFF5-1BB0-1E4B-8A9C-6838487A9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92" y="462840"/>
            <a:ext cx="2507748" cy="1325563"/>
          </a:xfrm>
        </p:spPr>
        <p:txBody>
          <a:bodyPr>
            <a:normAutofit fontScale="90000"/>
          </a:bodyPr>
          <a:lstStyle/>
          <a:p>
            <a:r>
              <a:rPr lang="es-ES_tradnl" sz="2400" noProof="1"/>
              <a:t>Los DALYs de manera importante con variables socioeconómicas.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0A9439-6731-42E6-6A3A-718ECE56F2ED}"/>
              </a:ext>
            </a:extLst>
          </p:cNvPr>
          <p:cNvSpPr/>
          <p:nvPr/>
        </p:nvSpPr>
        <p:spPr>
          <a:xfrm>
            <a:off x="4248150" y="1358900"/>
            <a:ext cx="4883702" cy="6076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D0C184-2512-6725-7694-DFC527C41469}"/>
              </a:ext>
            </a:extLst>
          </p:cNvPr>
          <p:cNvSpPr txBox="1"/>
          <p:nvPr/>
        </p:nvSpPr>
        <p:spPr>
          <a:xfrm>
            <a:off x="9448800" y="1346200"/>
            <a:ext cx="21060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MX" dirty="0"/>
              <a:t>PIB.</a:t>
            </a:r>
          </a:p>
          <a:p>
            <a:pPr marL="285750" indent="-285750">
              <a:buFontTx/>
              <a:buChar char="-"/>
            </a:pPr>
            <a:r>
              <a:rPr lang="es-MX" dirty="0"/>
              <a:t>IDH.</a:t>
            </a:r>
          </a:p>
          <a:p>
            <a:pPr marL="285750" indent="-285750">
              <a:buFontTx/>
              <a:buChar char="-"/>
            </a:pPr>
            <a:r>
              <a:rPr lang="es-MX" dirty="0"/>
              <a:t>Esperanza de vida.</a:t>
            </a:r>
          </a:p>
          <a:p>
            <a:pPr marL="285750" indent="-285750">
              <a:buFontTx/>
              <a:buChar char="-"/>
            </a:pPr>
            <a:r>
              <a:rPr lang="es-MX" dirty="0"/>
              <a:t>Población.</a:t>
            </a:r>
          </a:p>
          <a:p>
            <a:pPr marL="285750" indent="-285750">
              <a:buFontTx/>
              <a:buChar char="-"/>
            </a:pPr>
            <a:r>
              <a:rPr lang="es-MX" dirty="0"/>
              <a:t>CO2 anual.</a:t>
            </a:r>
          </a:p>
          <a:p>
            <a:pPr marL="285750" indent="-285750">
              <a:buFontTx/>
              <a:buChar char="-"/>
            </a:pPr>
            <a:r>
              <a:rPr lang="es-MX" dirty="0"/>
              <a:t>Precipitación total.</a:t>
            </a:r>
          </a:p>
          <a:p>
            <a:pPr marL="285750" indent="-285750">
              <a:buFontTx/>
              <a:buChar char="-"/>
            </a:pPr>
            <a:r>
              <a:rPr lang="es-MX" dirty="0"/>
              <a:t>Temperatura superficial.</a:t>
            </a:r>
          </a:p>
          <a:p>
            <a:pPr marL="285750" indent="-285750">
              <a:buFontTx/>
              <a:buChar char="-"/>
            </a:pPr>
            <a:r>
              <a:rPr lang="es-MX" dirty="0"/>
              <a:t>Humedad relativa.</a:t>
            </a:r>
          </a:p>
        </p:txBody>
      </p:sp>
    </p:spTree>
    <p:extLst>
      <p:ext uri="{BB962C8B-B14F-4D97-AF65-F5344CB8AC3E}">
        <p14:creationId xmlns:p14="http://schemas.microsoft.com/office/powerpoint/2010/main" val="198013643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DA912-76AB-187D-AA89-CBBD5CFE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46ABD54-2755-33BC-C1C6-E2FBCB28E00A}"/>
              </a:ext>
            </a:extLst>
          </p:cNvPr>
          <p:cNvSpPr/>
          <p:nvPr/>
        </p:nvSpPr>
        <p:spPr>
          <a:xfrm>
            <a:off x="219075" y="200026"/>
            <a:ext cx="11725275" cy="6438900"/>
          </a:xfrm>
          <a:custGeom>
            <a:avLst/>
            <a:gdLst>
              <a:gd name="csX0" fmla="*/ 0 w 11725275"/>
              <a:gd name="csY0" fmla="*/ 0 h 6438900"/>
              <a:gd name="csX1" fmla="*/ 11725275 w 11725275"/>
              <a:gd name="csY1" fmla="*/ 0 h 6438900"/>
              <a:gd name="csX2" fmla="*/ 11725275 w 11725275"/>
              <a:gd name="csY2" fmla="*/ 6438900 h 6438900"/>
              <a:gd name="csX3" fmla="*/ 0 w 11725275"/>
              <a:gd name="csY3" fmla="*/ 6438900 h 6438900"/>
              <a:gd name="csX4" fmla="*/ 0 w 11725275"/>
              <a:gd name="csY4" fmla="*/ 0 h 643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25275" h="6438900" extrusionOk="0">
                <a:moveTo>
                  <a:pt x="0" y="0"/>
                </a:moveTo>
                <a:cubicBezTo>
                  <a:pt x="3399955" y="-92938"/>
                  <a:pt x="9971035" y="-73857"/>
                  <a:pt x="11725275" y="0"/>
                </a:cubicBezTo>
                <a:cubicBezTo>
                  <a:pt x="11797118" y="1589663"/>
                  <a:pt x="11880976" y="5521985"/>
                  <a:pt x="11725275" y="6438900"/>
                </a:cubicBezTo>
                <a:cubicBezTo>
                  <a:pt x="9122253" y="6477114"/>
                  <a:pt x="5766231" y="6525681"/>
                  <a:pt x="0" y="6438900"/>
                </a:cubicBezTo>
                <a:cubicBezTo>
                  <a:pt x="-79000" y="4482847"/>
                  <a:pt x="77204" y="117320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430E02"/>
            </a:solidFill>
            <a:extLst>
              <a:ext uri="{C807C97D-BFC1-408E-A445-0C87EB9F89A2}">
                <ask:lineSketchStyleProps xmlns:ask="http://schemas.microsoft.com/office/drawing/2018/sketchyshapes" sd="117700768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30D80-A3BE-06A2-90F5-E0F4D2E07736}"/>
              </a:ext>
            </a:extLst>
          </p:cNvPr>
          <p:cNvSpPr/>
          <p:nvPr/>
        </p:nvSpPr>
        <p:spPr>
          <a:xfrm>
            <a:off x="148830" y="-323698"/>
            <a:ext cx="11894340" cy="690542"/>
          </a:xfrm>
          <a:prstGeom prst="roundRect">
            <a:avLst/>
          </a:prstGeom>
          <a:solidFill>
            <a:srgbClr val="430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7" name="Picture 6" descr="A close up of a cell&#10;&#10;Description automatically generated">
            <a:extLst>
              <a:ext uri="{FF2B5EF4-FFF2-40B4-BE49-F238E27FC236}">
                <a16:creationId xmlns:a16="http://schemas.microsoft.com/office/drawing/2014/main" id="{5D277BF5-30F9-2C8F-BD03-2C36FE2CF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315967">
            <a:off x="11692140" y="-78314"/>
            <a:ext cx="402329" cy="514856"/>
          </a:xfrm>
          <a:prstGeom prst="rect">
            <a:avLst/>
          </a:prstGeom>
        </p:spPr>
      </p:pic>
      <p:pic>
        <p:nvPicPr>
          <p:cNvPr id="8" name="Picture 7" descr="Mosquito, Insect, Disease, Vector, Biting PNG">
            <a:extLst>
              <a:ext uri="{FF2B5EF4-FFF2-40B4-BE49-F238E27FC236}">
                <a16:creationId xmlns:a16="http://schemas.microsoft.com/office/drawing/2014/main" id="{EA6186EC-76B6-20D3-0CED-E12877DFB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50677">
            <a:off x="11535419" y="17380"/>
            <a:ext cx="741722" cy="419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5502-E597-F52E-E294-F22528A0A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ES_tradnl" noProof="1" smtClean="0"/>
              <a:t>12</a:t>
            </a:fld>
            <a:endParaRPr lang="es-ES_tradnl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0DCDE1-B5A0-AF91-BA0B-0C67FE316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1425"/>
            <a:ext cx="501650" cy="501650"/>
          </a:xfrm>
          <a:prstGeom prst="rect">
            <a:avLst/>
          </a:prstGeom>
        </p:spPr>
      </p:pic>
      <p:pic>
        <p:nvPicPr>
          <p:cNvPr id="5" name="Picture 4" descr="AMD: Identifying Vector-borne Diseases | AMD | CDC">
            <a:extLst>
              <a:ext uri="{FF2B5EF4-FFF2-40B4-BE49-F238E27FC236}">
                <a16:creationId xmlns:a16="http://schemas.microsoft.com/office/drawing/2014/main" id="{672FAA06-6F38-0327-7971-7F4484C05E9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7145" flipH="1">
            <a:off x="-168336" y="6401371"/>
            <a:ext cx="786901" cy="442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8F1F49-98E0-EFDF-D73C-1718F2E9F84E}"/>
              </a:ext>
            </a:extLst>
          </p:cNvPr>
          <p:cNvSpPr txBox="1"/>
          <p:nvPr/>
        </p:nvSpPr>
        <p:spPr>
          <a:xfrm>
            <a:off x="7015438" y="3016373"/>
            <a:ext cx="50122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s-ES_tradnl" noProof="1"/>
            </a:br>
            <a:endParaRPr lang="es-ES_tradnl" noProof="1"/>
          </a:p>
          <a:p>
            <a:pPr algn="just" rtl="0">
              <a:buNone/>
            </a:pPr>
            <a:r>
              <a:rPr lang="es-ES_tradnl" sz="1800" b="0" i="0" u="none" strike="noStrike" noProof="1">
                <a:solidFill>
                  <a:srgbClr val="000000"/>
                </a:solidFill>
                <a:effectLst/>
                <a:latin typeface="Lexend"/>
              </a:rPr>
              <a:t>Carlson et al., 2025 </a:t>
            </a:r>
            <a:endParaRPr lang="es-ES_tradnl" noProof="1"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7A1B55-077D-3EDB-66DD-548D43A40C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9705" y="1303497"/>
            <a:ext cx="7400889" cy="52724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7C524F-1C9D-7ED8-8B99-AB442E93D181}"/>
              </a:ext>
            </a:extLst>
          </p:cNvPr>
          <p:cNvSpPr txBox="1"/>
          <p:nvPr/>
        </p:nvSpPr>
        <p:spPr>
          <a:xfrm>
            <a:off x="4780547" y="497777"/>
            <a:ext cx="71127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MX" noProof="1">
                <a:solidFill>
                  <a:schemeClr val="tx2">
                    <a:lumMod val="75000"/>
                  </a:schemeClr>
                </a:solidFill>
              </a:rPr>
              <a:t>¿Qué variables explican el cambio a lo largo del tiempo y es posible que éstas también expliquen el cambio dado en el futuro?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8AA1E4C-CB8D-9858-BB19-4F6EDFBFB5A9}"/>
              </a:ext>
            </a:extLst>
          </p:cNvPr>
          <p:cNvSpPr txBox="1">
            <a:spLocks/>
          </p:cNvSpPr>
          <p:nvPr/>
        </p:nvSpPr>
        <p:spPr>
          <a:xfrm>
            <a:off x="325992" y="546375"/>
            <a:ext cx="21433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400" noProof="1"/>
              <a:t>Los DALYs de manera importante con variables socioeconómicas. </a:t>
            </a:r>
          </a:p>
        </p:txBody>
      </p:sp>
    </p:spTree>
    <p:extLst>
      <p:ext uri="{BB962C8B-B14F-4D97-AF65-F5344CB8AC3E}">
        <p14:creationId xmlns:p14="http://schemas.microsoft.com/office/powerpoint/2010/main" val="265561077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DDEA4-219F-24F5-1BE6-4D0FB8DDD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DE492C5-6953-32AE-2020-17AFD1CCB107}"/>
              </a:ext>
            </a:extLst>
          </p:cNvPr>
          <p:cNvSpPr/>
          <p:nvPr/>
        </p:nvSpPr>
        <p:spPr>
          <a:xfrm>
            <a:off x="219075" y="200026"/>
            <a:ext cx="11725275" cy="6438900"/>
          </a:xfrm>
          <a:custGeom>
            <a:avLst/>
            <a:gdLst>
              <a:gd name="csX0" fmla="*/ 0 w 11725275"/>
              <a:gd name="csY0" fmla="*/ 0 h 6438900"/>
              <a:gd name="csX1" fmla="*/ 11725275 w 11725275"/>
              <a:gd name="csY1" fmla="*/ 0 h 6438900"/>
              <a:gd name="csX2" fmla="*/ 11725275 w 11725275"/>
              <a:gd name="csY2" fmla="*/ 6438900 h 6438900"/>
              <a:gd name="csX3" fmla="*/ 0 w 11725275"/>
              <a:gd name="csY3" fmla="*/ 6438900 h 6438900"/>
              <a:gd name="csX4" fmla="*/ 0 w 11725275"/>
              <a:gd name="csY4" fmla="*/ 0 h 643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25275" h="6438900" extrusionOk="0">
                <a:moveTo>
                  <a:pt x="0" y="0"/>
                </a:moveTo>
                <a:cubicBezTo>
                  <a:pt x="3399955" y="-92938"/>
                  <a:pt x="9971035" y="-73857"/>
                  <a:pt x="11725275" y="0"/>
                </a:cubicBezTo>
                <a:cubicBezTo>
                  <a:pt x="11797118" y="1589663"/>
                  <a:pt x="11880976" y="5521985"/>
                  <a:pt x="11725275" y="6438900"/>
                </a:cubicBezTo>
                <a:cubicBezTo>
                  <a:pt x="9122253" y="6477114"/>
                  <a:pt x="5766231" y="6525681"/>
                  <a:pt x="0" y="6438900"/>
                </a:cubicBezTo>
                <a:cubicBezTo>
                  <a:pt x="-79000" y="4482847"/>
                  <a:pt x="77204" y="117320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430E02"/>
            </a:solidFill>
            <a:extLst>
              <a:ext uri="{C807C97D-BFC1-408E-A445-0C87EB9F89A2}">
                <ask:lineSketchStyleProps xmlns:ask="http://schemas.microsoft.com/office/drawing/2018/sketchyshapes" sd="117700768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F29D11C-2B2B-9DEE-5CA3-76D4DB6FD9B9}"/>
              </a:ext>
            </a:extLst>
          </p:cNvPr>
          <p:cNvSpPr/>
          <p:nvPr/>
        </p:nvSpPr>
        <p:spPr>
          <a:xfrm>
            <a:off x="148830" y="-323698"/>
            <a:ext cx="11894340" cy="690542"/>
          </a:xfrm>
          <a:prstGeom prst="roundRect">
            <a:avLst/>
          </a:prstGeom>
          <a:solidFill>
            <a:srgbClr val="430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7" name="Picture 6" descr="A close up of a cell&#10;&#10;Description automatically generated">
            <a:extLst>
              <a:ext uri="{FF2B5EF4-FFF2-40B4-BE49-F238E27FC236}">
                <a16:creationId xmlns:a16="http://schemas.microsoft.com/office/drawing/2014/main" id="{3E15B50D-1907-B016-A349-5BE37CC9D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315967">
            <a:off x="11692140" y="-78314"/>
            <a:ext cx="402329" cy="514856"/>
          </a:xfrm>
          <a:prstGeom prst="rect">
            <a:avLst/>
          </a:prstGeom>
        </p:spPr>
      </p:pic>
      <p:pic>
        <p:nvPicPr>
          <p:cNvPr id="8" name="Picture 7" descr="Mosquito, Insect, Disease, Vector, Biting PNG">
            <a:extLst>
              <a:ext uri="{FF2B5EF4-FFF2-40B4-BE49-F238E27FC236}">
                <a16:creationId xmlns:a16="http://schemas.microsoft.com/office/drawing/2014/main" id="{B0E27A9C-6AED-B409-C3FE-38368A8F8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50677">
            <a:off x="11535419" y="17380"/>
            <a:ext cx="741722" cy="419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ACC67-EDA4-63BC-ECF3-702F9605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ES_tradnl" noProof="1" smtClean="0"/>
              <a:t>13</a:t>
            </a:fld>
            <a:endParaRPr lang="es-ES_tradnl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C7841E-F652-BE64-7B7C-51C83DD29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1425"/>
            <a:ext cx="501650" cy="501650"/>
          </a:xfrm>
          <a:prstGeom prst="rect">
            <a:avLst/>
          </a:prstGeom>
        </p:spPr>
      </p:pic>
      <p:pic>
        <p:nvPicPr>
          <p:cNvPr id="5" name="Picture 4" descr="AMD: Identifying Vector-borne Diseases | AMD | CDC">
            <a:extLst>
              <a:ext uri="{FF2B5EF4-FFF2-40B4-BE49-F238E27FC236}">
                <a16:creationId xmlns:a16="http://schemas.microsoft.com/office/drawing/2014/main" id="{CF140543-A44E-D811-1497-B8DCEA55BE9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7145" flipH="1">
            <a:off x="-168336" y="6401371"/>
            <a:ext cx="786901" cy="442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27A93D-3C54-3421-7A5E-4B74C97F8EC8}"/>
              </a:ext>
            </a:extLst>
          </p:cNvPr>
          <p:cNvSpPr txBox="1"/>
          <p:nvPr/>
        </p:nvSpPr>
        <p:spPr>
          <a:xfrm>
            <a:off x="7015438" y="3016373"/>
            <a:ext cx="50122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s-ES_tradnl" noProof="1"/>
            </a:br>
            <a:endParaRPr lang="es-ES_tradnl" noProof="1"/>
          </a:p>
          <a:p>
            <a:pPr algn="just" rtl="0">
              <a:buNone/>
            </a:pPr>
            <a:r>
              <a:rPr lang="es-ES_tradnl" sz="1800" b="0" i="0" u="none" strike="noStrike" noProof="1">
                <a:solidFill>
                  <a:srgbClr val="000000"/>
                </a:solidFill>
                <a:effectLst/>
                <a:latin typeface="Lexend"/>
              </a:rPr>
              <a:t>Carlson et al., 2025 </a:t>
            </a:r>
            <a:endParaRPr lang="es-ES_tradnl" noProof="1">
              <a:effectLst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737002-E111-50E4-CA2F-5F06AED045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2924" y="1553508"/>
            <a:ext cx="6186151" cy="52630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CF4E0B-C70E-35AC-6E71-8853EFC8B570}"/>
              </a:ext>
            </a:extLst>
          </p:cNvPr>
          <p:cNvSpPr txBox="1"/>
          <p:nvPr/>
        </p:nvSpPr>
        <p:spPr>
          <a:xfrm>
            <a:off x="4780547" y="497777"/>
            <a:ext cx="71127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MX" noProof="1">
                <a:solidFill>
                  <a:schemeClr val="tx2">
                    <a:lumMod val="75000"/>
                  </a:schemeClr>
                </a:solidFill>
              </a:rPr>
              <a:t>¿Qué variables explican el cambio a lo largo del tiempo y es posible que éstas también expliquen el cambio dado en el futuro?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E29FDC7-6E43-FAFE-FFB3-D58813F577DE}"/>
              </a:ext>
            </a:extLst>
          </p:cNvPr>
          <p:cNvSpPr txBox="1">
            <a:spLocks/>
          </p:cNvSpPr>
          <p:nvPr/>
        </p:nvSpPr>
        <p:spPr>
          <a:xfrm>
            <a:off x="325992" y="462840"/>
            <a:ext cx="25077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400" noProof="1"/>
              <a:t>Los DALYs de manera importante con variables socioeconómicas. </a:t>
            </a:r>
          </a:p>
        </p:txBody>
      </p:sp>
    </p:spTree>
    <p:extLst>
      <p:ext uri="{BB962C8B-B14F-4D97-AF65-F5344CB8AC3E}">
        <p14:creationId xmlns:p14="http://schemas.microsoft.com/office/powerpoint/2010/main" val="226735095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67985-70CF-68B6-622A-1B044195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E2AF722-BF60-A336-B11F-D91416A45A1B}"/>
              </a:ext>
            </a:extLst>
          </p:cNvPr>
          <p:cNvSpPr/>
          <p:nvPr/>
        </p:nvSpPr>
        <p:spPr>
          <a:xfrm>
            <a:off x="219075" y="200026"/>
            <a:ext cx="11725275" cy="6438900"/>
          </a:xfrm>
          <a:custGeom>
            <a:avLst/>
            <a:gdLst>
              <a:gd name="csX0" fmla="*/ 0 w 11725275"/>
              <a:gd name="csY0" fmla="*/ 0 h 6438900"/>
              <a:gd name="csX1" fmla="*/ 11725275 w 11725275"/>
              <a:gd name="csY1" fmla="*/ 0 h 6438900"/>
              <a:gd name="csX2" fmla="*/ 11725275 w 11725275"/>
              <a:gd name="csY2" fmla="*/ 6438900 h 6438900"/>
              <a:gd name="csX3" fmla="*/ 0 w 11725275"/>
              <a:gd name="csY3" fmla="*/ 6438900 h 6438900"/>
              <a:gd name="csX4" fmla="*/ 0 w 11725275"/>
              <a:gd name="csY4" fmla="*/ 0 h 643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25275" h="6438900" extrusionOk="0">
                <a:moveTo>
                  <a:pt x="0" y="0"/>
                </a:moveTo>
                <a:cubicBezTo>
                  <a:pt x="3399955" y="-92938"/>
                  <a:pt x="9971035" y="-73857"/>
                  <a:pt x="11725275" y="0"/>
                </a:cubicBezTo>
                <a:cubicBezTo>
                  <a:pt x="11797118" y="1589663"/>
                  <a:pt x="11880976" y="5521985"/>
                  <a:pt x="11725275" y="6438900"/>
                </a:cubicBezTo>
                <a:cubicBezTo>
                  <a:pt x="9122253" y="6477114"/>
                  <a:pt x="5766231" y="6525681"/>
                  <a:pt x="0" y="6438900"/>
                </a:cubicBezTo>
                <a:cubicBezTo>
                  <a:pt x="-79000" y="4482847"/>
                  <a:pt x="77204" y="117320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430E02"/>
            </a:solidFill>
            <a:extLst>
              <a:ext uri="{C807C97D-BFC1-408E-A445-0C87EB9F89A2}">
                <ask:lineSketchStyleProps xmlns:ask="http://schemas.microsoft.com/office/drawing/2018/sketchyshapes" sd="117700768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DA525F-600B-9767-245D-A8507D497CDA}"/>
              </a:ext>
            </a:extLst>
          </p:cNvPr>
          <p:cNvSpPr/>
          <p:nvPr/>
        </p:nvSpPr>
        <p:spPr>
          <a:xfrm>
            <a:off x="148830" y="-323698"/>
            <a:ext cx="11894340" cy="690542"/>
          </a:xfrm>
          <a:prstGeom prst="roundRect">
            <a:avLst/>
          </a:prstGeom>
          <a:solidFill>
            <a:srgbClr val="430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7" name="Picture 6" descr="A close up of a cell&#10;&#10;Description automatically generated">
            <a:extLst>
              <a:ext uri="{FF2B5EF4-FFF2-40B4-BE49-F238E27FC236}">
                <a16:creationId xmlns:a16="http://schemas.microsoft.com/office/drawing/2014/main" id="{2CCB827B-0272-4BAE-42DE-B44C7D7A9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315967">
            <a:off x="11692140" y="-78314"/>
            <a:ext cx="402329" cy="514856"/>
          </a:xfrm>
          <a:prstGeom prst="rect">
            <a:avLst/>
          </a:prstGeom>
        </p:spPr>
      </p:pic>
      <p:pic>
        <p:nvPicPr>
          <p:cNvPr id="8" name="Picture 7" descr="Mosquito, Insect, Disease, Vector, Biting PNG">
            <a:extLst>
              <a:ext uri="{FF2B5EF4-FFF2-40B4-BE49-F238E27FC236}">
                <a16:creationId xmlns:a16="http://schemas.microsoft.com/office/drawing/2014/main" id="{F851FB8E-6DB8-7012-9BFB-21F449B67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50677">
            <a:off x="11535419" y="17380"/>
            <a:ext cx="741722" cy="419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5D73C-CA86-64E9-5E9F-5ADA39E0D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ES_tradnl" noProof="1" smtClean="0"/>
              <a:t>14</a:t>
            </a:fld>
            <a:endParaRPr lang="es-ES_tradnl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8E1C3F-0DF9-5E81-64DD-77670C0A9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1425"/>
            <a:ext cx="501650" cy="501650"/>
          </a:xfrm>
          <a:prstGeom prst="rect">
            <a:avLst/>
          </a:prstGeom>
        </p:spPr>
      </p:pic>
      <p:pic>
        <p:nvPicPr>
          <p:cNvPr id="5" name="Picture 4" descr="AMD: Identifying Vector-borne Diseases | AMD | CDC">
            <a:extLst>
              <a:ext uri="{FF2B5EF4-FFF2-40B4-BE49-F238E27FC236}">
                <a16:creationId xmlns:a16="http://schemas.microsoft.com/office/drawing/2014/main" id="{B45D25EC-BA87-A042-0239-DE56CFF47D2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7145" flipH="1">
            <a:off x="-168336" y="6401371"/>
            <a:ext cx="786901" cy="442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FA2C0C-6142-7497-3B35-AE3882955929}"/>
              </a:ext>
            </a:extLst>
          </p:cNvPr>
          <p:cNvSpPr txBox="1"/>
          <p:nvPr/>
        </p:nvSpPr>
        <p:spPr>
          <a:xfrm>
            <a:off x="7015438" y="3016373"/>
            <a:ext cx="50122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s-ES_tradnl" noProof="1"/>
            </a:br>
            <a:endParaRPr lang="es-ES_tradnl" noProof="1"/>
          </a:p>
          <a:p>
            <a:pPr algn="just" rtl="0">
              <a:buNone/>
            </a:pPr>
            <a:r>
              <a:rPr lang="es-ES_tradnl" sz="1800" b="0" i="0" u="none" strike="noStrike" noProof="1">
                <a:solidFill>
                  <a:srgbClr val="000000"/>
                </a:solidFill>
                <a:effectLst/>
                <a:latin typeface="Lexend"/>
              </a:rPr>
              <a:t>Carlson et al., 2025 </a:t>
            </a:r>
            <a:endParaRPr lang="es-ES_tradnl" noProof="1">
              <a:effectLst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DDF38E-73E0-4BA8-A8F0-D87CDF9C41BA}"/>
              </a:ext>
            </a:extLst>
          </p:cNvPr>
          <p:cNvSpPr txBox="1"/>
          <p:nvPr/>
        </p:nvSpPr>
        <p:spPr>
          <a:xfrm>
            <a:off x="4780547" y="497777"/>
            <a:ext cx="71127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MX" noProof="1">
                <a:solidFill>
                  <a:schemeClr val="tx2">
                    <a:lumMod val="75000"/>
                  </a:schemeClr>
                </a:solidFill>
              </a:rPr>
              <a:t>¿Qué variables explican el cambio a lo largo del tiempo y es posible que éstas también expliquen el cambio dado en el futuro?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092A8EC-261D-E9C7-BAAB-EC2061BAB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519656"/>
              </p:ext>
            </p:extLst>
          </p:nvPr>
        </p:nvGraphicFramePr>
        <p:xfrm>
          <a:off x="6426575" y="1880475"/>
          <a:ext cx="5174933" cy="40948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4587">
                  <a:extLst>
                    <a:ext uri="{9D8B030D-6E8A-4147-A177-3AD203B41FA5}">
                      <a16:colId xmlns:a16="http://schemas.microsoft.com/office/drawing/2014/main" val="1120260874"/>
                    </a:ext>
                  </a:extLst>
                </a:gridCol>
                <a:gridCol w="1725173">
                  <a:extLst>
                    <a:ext uri="{9D8B030D-6E8A-4147-A177-3AD203B41FA5}">
                      <a16:colId xmlns:a16="http://schemas.microsoft.com/office/drawing/2014/main" val="4274835503"/>
                    </a:ext>
                  </a:extLst>
                </a:gridCol>
                <a:gridCol w="1725173">
                  <a:extLst>
                    <a:ext uri="{9D8B030D-6E8A-4147-A177-3AD203B41FA5}">
                      <a16:colId xmlns:a16="http://schemas.microsoft.com/office/drawing/2014/main" val="2359821795"/>
                    </a:ext>
                  </a:extLst>
                </a:gridCol>
              </a:tblGrid>
              <a:tr h="5321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 dirty="0">
                          <a:effectLst/>
                        </a:rPr>
                        <a:t>Componente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>
                          <a:effectLst/>
                        </a:rPr>
                        <a:t>Varianza explicada (%)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>
                          <a:effectLst/>
                        </a:rPr>
                        <a:t>Variables representativas (con carga alta)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30445161"/>
                  </a:ext>
                </a:extLst>
              </a:tr>
              <a:tr h="107327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>
                          <a:effectLst/>
                        </a:rPr>
                        <a:t>Comp_0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>
                          <a:effectLst/>
                        </a:rPr>
                        <a:t>43.78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 dirty="0" err="1">
                          <a:effectLst/>
                        </a:rPr>
                        <a:t>indice_salud</a:t>
                      </a:r>
                      <a:r>
                        <a:rPr lang="es-MX" sz="900" kern="100" dirty="0">
                          <a:effectLst/>
                        </a:rPr>
                        <a:t> (-0.353), </a:t>
                      </a:r>
                      <a:r>
                        <a:rPr lang="es-MX" sz="900" kern="100" dirty="0" err="1">
                          <a:effectLst/>
                        </a:rPr>
                        <a:t>esperanza_vida</a:t>
                      </a:r>
                      <a:r>
                        <a:rPr lang="es-MX" sz="900" kern="100" dirty="0">
                          <a:effectLst/>
                        </a:rPr>
                        <a:t> (-0.353), </a:t>
                      </a:r>
                      <a:r>
                        <a:rPr lang="es-MX" sz="900" kern="100" dirty="0" err="1">
                          <a:effectLst/>
                        </a:rPr>
                        <a:t>idh</a:t>
                      </a:r>
                      <a:r>
                        <a:rPr lang="es-MX" sz="900" kern="100" dirty="0">
                          <a:effectLst/>
                        </a:rPr>
                        <a:t> (-0.350), </a:t>
                      </a:r>
                      <a:r>
                        <a:rPr lang="es-MX" sz="900" kern="100" dirty="0" err="1">
                          <a:effectLst/>
                        </a:rPr>
                        <a:t>indice_educacion</a:t>
                      </a:r>
                      <a:r>
                        <a:rPr lang="es-MX" sz="900" kern="100" dirty="0">
                          <a:effectLst/>
                        </a:rPr>
                        <a:t> (-0.342), </a:t>
                      </a:r>
                      <a:r>
                        <a:rPr lang="es-MX" sz="900" kern="100" dirty="0" err="1">
                          <a:effectLst/>
                        </a:rPr>
                        <a:t>indice_ingresos</a:t>
                      </a:r>
                      <a:r>
                        <a:rPr lang="es-MX" sz="900" kern="100" dirty="0">
                          <a:effectLst/>
                        </a:rPr>
                        <a:t> (-0.340)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0285014"/>
                  </a:ext>
                </a:extLst>
              </a:tr>
              <a:tr h="35180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>
                          <a:effectLst/>
                        </a:rPr>
                        <a:t>Comp_1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 dirty="0">
                          <a:effectLst/>
                        </a:rPr>
                        <a:t>13.98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>
                          <a:effectLst/>
                        </a:rPr>
                        <a:t>poblacion_abs (0.658), poblacion_miles (0.658)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18043366"/>
                  </a:ext>
                </a:extLst>
              </a:tr>
              <a:tr h="5321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>
                          <a:effectLst/>
                        </a:rPr>
                        <a:t>Comp_2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>
                          <a:effectLst/>
                        </a:rPr>
                        <a:t>11.68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>
                          <a:effectLst/>
                        </a:rPr>
                        <a:t>precipitacion_total (0.641), humedad_relativa (0.620)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6594703"/>
                  </a:ext>
                </a:extLst>
              </a:tr>
              <a:tr h="107327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>
                          <a:effectLst/>
                        </a:rPr>
                        <a:t>Comp_3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>
                          <a:effectLst/>
                        </a:rPr>
                        <a:t>10.42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 dirty="0" err="1">
                          <a:effectLst/>
                        </a:rPr>
                        <a:t>dalys_por_intervencion</a:t>
                      </a:r>
                      <a:r>
                        <a:rPr lang="es-MX" sz="900" kern="100" dirty="0">
                          <a:effectLst/>
                        </a:rPr>
                        <a:t> (0.394), </a:t>
                      </a:r>
                      <a:r>
                        <a:rPr lang="es-MX" sz="900" kern="100" dirty="0" err="1">
                          <a:effectLst/>
                        </a:rPr>
                        <a:t>pib_per_capita</a:t>
                      </a:r>
                      <a:r>
                        <a:rPr lang="es-MX" sz="900" kern="100" dirty="0">
                          <a:effectLst/>
                        </a:rPr>
                        <a:t> (0.360), tasa_dalys_100k (0.353), </a:t>
                      </a:r>
                      <a:r>
                        <a:rPr lang="es-MX" sz="900" kern="100" dirty="0" err="1">
                          <a:effectLst/>
                        </a:rPr>
                        <a:t>desarrollo_vs_carga</a:t>
                      </a:r>
                      <a:r>
                        <a:rPr lang="es-MX" sz="900" kern="100" dirty="0">
                          <a:effectLst/>
                        </a:rPr>
                        <a:t> (0.339)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33212227"/>
                  </a:ext>
                </a:extLst>
              </a:tr>
              <a:tr h="5321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>
                          <a:effectLst/>
                        </a:rPr>
                        <a:t>Comp_4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>
                          <a:effectLst/>
                        </a:rPr>
                        <a:t>7.66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900" kern="100" dirty="0">
                          <a:effectLst/>
                        </a:rPr>
                        <a:t>co2_anual (0.674), </a:t>
                      </a:r>
                      <a:r>
                        <a:rPr lang="es-MX" sz="900" kern="100" dirty="0" err="1">
                          <a:effectLst/>
                        </a:rPr>
                        <a:t>temperatura_superficial</a:t>
                      </a:r>
                      <a:r>
                        <a:rPr lang="es-MX" sz="900" kern="100" dirty="0">
                          <a:effectLst/>
                        </a:rPr>
                        <a:t> (0.588)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38010995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9059DC8D-2647-A59D-8CD8-E2B955E2F8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950" y="1880475"/>
            <a:ext cx="5386407" cy="4118456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64888F79-DBD1-45D1-C6EB-3CBD4B57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92" y="366844"/>
            <a:ext cx="4371214" cy="1325563"/>
          </a:xfrm>
        </p:spPr>
        <p:txBody>
          <a:bodyPr>
            <a:normAutofit/>
          </a:bodyPr>
          <a:lstStyle/>
          <a:p>
            <a:r>
              <a:rPr lang="es-ES_tradnl" sz="2400" noProof="1"/>
              <a:t>Las variables socioeconómicas explican en gran medida la varianza de los DALYs</a:t>
            </a:r>
          </a:p>
        </p:txBody>
      </p:sp>
    </p:spTree>
    <p:extLst>
      <p:ext uri="{BB962C8B-B14F-4D97-AF65-F5344CB8AC3E}">
        <p14:creationId xmlns:p14="http://schemas.microsoft.com/office/powerpoint/2010/main" val="208883986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61D1C-A571-E042-6E0C-E8AAF1CBC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A0D95DA-AFFF-1FB8-56AA-D404CB111B10}"/>
              </a:ext>
            </a:extLst>
          </p:cNvPr>
          <p:cNvSpPr/>
          <p:nvPr/>
        </p:nvSpPr>
        <p:spPr>
          <a:xfrm>
            <a:off x="219075" y="200026"/>
            <a:ext cx="11725275" cy="6438900"/>
          </a:xfrm>
          <a:custGeom>
            <a:avLst/>
            <a:gdLst>
              <a:gd name="csX0" fmla="*/ 0 w 11725275"/>
              <a:gd name="csY0" fmla="*/ 0 h 6438900"/>
              <a:gd name="csX1" fmla="*/ 11725275 w 11725275"/>
              <a:gd name="csY1" fmla="*/ 0 h 6438900"/>
              <a:gd name="csX2" fmla="*/ 11725275 w 11725275"/>
              <a:gd name="csY2" fmla="*/ 6438900 h 6438900"/>
              <a:gd name="csX3" fmla="*/ 0 w 11725275"/>
              <a:gd name="csY3" fmla="*/ 6438900 h 6438900"/>
              <a:gd name="csX4" fmla="*/ 0 w 11725275"/>
              <a:gd name="csY4" fmla="*/ 0 h 643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25275" h="6438900" extrusionOk="0">
                <a:moveTo>
                  <a:pt x="0" y="0"/>
                </a:moveTo>
                <a:cubicBezTo>
                  <a:pt x="3399955" y="-92938"/>
                  <a:pt x="9971035" y="-73857"/>
                  <a:pt x="11725275" y="0"/>
                </a:cubicBezTo>
                <a:cubicBezTo>
                  <a:pt x="11797118" y="1589663"/>
                  <a:pt x="11880976" y="5521985"/>
                  <a:pt x="11725275" y="6438900"/>
                </a:cubicBezTo>
                <a:cubicBezTo>
                  <a:pt x="9122253" y="6477114"/>
                  <a:pt x="5766231" y="6525681"/>
                  <a:pt x="0" y="6438900"/>
                </a:cubicBezTo>
                <a:cubicBezTo>
                  <a:pt x="-79000" y="4482847"/>
                  <a:pt x="77204" y="117320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430E02"/>
            </a:solidFill>
            <a:extLst>
              <a:ext uri="{C807C97D-BFC1-408E-A445-0C87EB9F89A2}">
                <ask:lineSketchStyleProps xmlns:ask="http://schemas.microsoft.com/office/drawing/2018/sketchyshapes" sd="117700768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CF19F8-A02C-35DC-57AC-852D61D5B081}"/>
              </a:ext>
            </a:extLst>
          </p:cNvPr>
          <p:cNvSpPr/>
          <p:nvPr/>
        </p:nvSpPr>
        <p:spPr>
          <a:xfrm>
            <a:off x="148830" y="-323698"/>
            <a:ext cx="11894340" cy="690542"/>
          </a:xfrm>
          <a:prstGeom prst="roundRect">
            <a:avLst/>
          </a:prstGeom>
          <a:solidFill>
            <a:srgbClr val="430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7" name="Picture 6" descr="A close up of a cell&#10;&#10;Description automatically generated">
            <a:extLst>
              <a:ext uri="{FF2B5EF4-FFF2-40B4-BE49-F238E27FC236}">
                <a16:creationId xmlns:a16="http://schemas.microsoft.com/office/drawing/2014/main" id="{404EA0E9-0B37-8E7A-2C67-2F865E52C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315967">
            <a:off x="11692140" y="-78314"/>
            <a:ext cx="402329" cy="514856"/>
          </a:xfrm>
          <a:prstGeom prst="rect">
            <a:avLst/>
          </a:prstGeom>
        </p:spPr>
      </p:pic>
      <p:pic>
        <p:nvPicPr>
          <p:cNvPr id="8" name="Picture 7" descr="Mosquito, Insect, Disease, Vector, Biting PNG">
            <a:extLst>
              <a:ext uri="{FF2B5EF4-FFF2-40B4-BE49-F238E27FC236}">
                <a16:creationId xmlns:a16="http://schemas.microsoft.com/office/drawing/2014/main" id="{E9EC044E-AC07-71A9-71C7-CA0FBC97A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50677">
            <a:off x="11535419" y="17380"/>
            <a:ext cx="741722" cy="419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D131B-6693-3BB5-9247-045617FE2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s-ES_tradnl" noProof="1"/>
              <a:t>La carga de NTDs está sesgada a un número reducido de países.</a:t>
            </a:r>
          </a:p>
          <a:p>
            <a:r>
              <a:rPr lang="es-ES_tradnl" noProof="1"/>
              <a:t>En la mayoría de los casos, la población masculina es la que contribuye más a la carga de enfermedades, en comparación con la femenina.</a:t>
            </a:r>
          </a:p>
          <a:p>
            <a:r>
              <a:rPr lang="es-MX" noProof="1"/>
              <a:t>Los países con menor desarrollo socioeconómico tienden a presentar mayores cargas de NTDs.</a:t>
            </a:r>
          </a:p>
          <a:p>
            <a:r>
              <a:rPr lang="es-MX" noProof="1"/>
              <a:t>Para explicar y potencialmente proyectar el comportamiento futuro de las NTDs, se debe prestar especial atención a las variables socioeconómicas y, en menor medida, a ciertas variables climáticas.</a:t>
            </a:r>
          </a:p>
          <a:p>
            <a:pPr lvl="1"/>
            <a:r>
              <a:rPr lang="es-MX" noProof="1"/>
              <a:t>La baja contribución de otras variables climáticas podría deberse a la escala de análisis (anual y por país), que diluye variaciones de más alta resolución temporal y espacial. </a:t>
            </a:r>
            <a:endParaRPr lang="es-ES_tradnl" noProof="1"/>
          </a:p>
          <a:p>
            <a:endParaRPr lang="es-ES_tradnl" noProof="1"/>
          </a:p>
          <a:p>
            <a:endParaRPr lang="es-ES_tradnl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34C8C-8AC1-F275-23A5-730046200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4512"/>
            <a:ext cx="10515600" cy="1325563"/>
          </a:xfrm>
        </p:spPr>
        <p:txBody>
          <a:bodyPr/>
          <a:lstStyle/>
          <a:p>
            <a:r>
              <a:rPr lang="es-ES_tradnl" noProof="1"/>
              <a:t>Conclusiones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D7F42-78F0-1760-C2CF-372D5EF3E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ES_tradnl" noProof="1" smtClean="0"/>
              <a:t>15</a:t>
            </a:fld>
            <a:endParaRPr lang="es-ES_tradnl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E32FE6-7EF2-5421-D352-5A705BCFB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1425"/>
            <a:ext cx="501650" cy="501650"/>
          </a:xfrm>
          <a:prstGeom prst="rect">
            <a:avLst/>
          </a:prstGeom>
        </p:spPr>
      </p:pic>
      <p:pic>
        <p:nvPicPr>
          <p:cNvPr id="5" name="Picture 4" descr="AMD: Identifying Vector-borne Diseases | AMD | CDC">
            <a:extLst>
              <a:ext uri="{FF2B5EF4-FFF2-40B4-BE49-F238E27FC236}">
                <a16:creationId xmlns:a16="http://schemas.microsoft.com/office/drawing/2014/main" id="{E381A4F0-1E75-3AAD-6228-F6589AC82AC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7145" flipH="1">
            <a:off x="-168336" y="6401371"/>
            <a:ext cx="786901" cy="44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429673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D336-5D77-6095-E77B-3F1C1D2B2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34950"/>
            <a:ext cx="10515600" cy="1325563"/>
          </a:xfrm>
        </p:spPr>
        <p:txBody>
          <a:bodyPr/>
          <a:lstStyle/>
          <a:p>
            <a:r>
              <a:rPr lang="es-ES_tradnl" noProof="1"/>
              <a:t>Referencias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A96A0-B05E-D1DE-2CE0-4B69495B7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5826"/>
            <a:ext cx="10515600" cy="5291138"/>
          </a:xfrm>
        </p:spPr>
        <p:txBody>
          <a:bodyPr>
            <a:normAutofit/>
          </a:bodyPr>
          <a:lstStyle/>
          <a:p>
            <a:r>
              <a:rPr lang="es-ES_tradnl" sz="900" noProof="1"/>
              <a:t>Baral, S., Joshi, P., Marasini, B. P., Gautam, I., Dhimal, M., &amp; Muller, R. (2026). Altitudinal and household breeding patterns of the medically important mosquitoes Aedes aegypti, Aedes albopictus and Culex quinquefasciatus in Nepal. PLOS One, 21(3), e0345285. https://doi.org/10.1371/journal.pone.0345285</a:t>
            </a:r>
          </a:p>
          <a:p>
            <a:r>
              <a:rPr lang="es-ES_tradnl" sz="900" noProof="1"/>
              <a:t>Conteh, L., Engels, T., &amp; Molyneux, D. H. (2010). Socioeconomic aspects of neglected tropical diseases. The Lancet, 375(9710), 239–247. https://doi.org/10.1016/s0140-6736(09)61422-7</a:t>
            </a:r>
          </a:p>
          <a:p>
            <a:r>
              <a:rPr lang="es-ES_tradnl" sz="900" noProof="1"/>
              <a:t>Ferrari, A. J., Santomauro, D. F., Aali, A., Abate, Y. H., Abbafati, C., Abbastabar, H., Abd ElHafeez, S., Abdelmasseh, M., Abd-Elsalam, S., Abdollahi, A., Abdullahi, A., Abegaz, K. H., Abeldaño Zuñiga, R. A., Aboagye, R. G., Abolhassani, H., Abreu, L. G., Abualruz, H., Abu-Gharbieh, E., Abu-Rmeileh, N. M., &amp; Ackerman, I. N. (2024). Global incidence, prevalence, years lived with disability (YLDs), disability-adjusted life-years (DALYs), and healthy life expectancy (HALE) for 371 diseases and injuries in 204 countries and territories and 811 subnational locations, 1990–2021: a systematic analysis for the Global Burden of Disease Study 2021. Lancet, 403(10440). https://doi.org/10.1016/S0140-6736(24)00757-8</a:t>
            </a:r>
          </a:p>
          <a:p>
            <a:r>
              <a:rPr lang="es-ES_tradnl" sz="900" noProof="1"/>
              <a:t>The Lancet Global Health. (2025). Climate change and NTDs: a perfect storm. The Lancet Global Health, 13(2), e172. https://doi.org/10.1016/s2214-109x(25)00014-2</a:t>
            </a:r>
          </a:p>
          <a:p>
            <a:r>
              <a:rPr lang="es-ES_tradnl" sz="900" noProof="1"/>
              <a:t>Tidman, R., Abela-Ridder, B., &amp; de Castañeda, R. R. (2021). The impact of climate change on neglected tropical diseases: a systematic review. Transactions of the Royal Society of Tropical Medicine and Hygiene, 115(2), 147–168. https://doi.org/10.1093/trstmh/traa192</a:t>
            </a:r>
          </a:p>
          <a:p>
            <a:r>
              <a:rPr lang="es-ES_tradnl" sz="900" noProof="1"/>
              <a:t>World Health Organization. (2023). Neglected tropical diseases. Www.who.int. https://www.who.int/health-topics/neglected-tropical-diseases#tab=tab_1</a:t>
            </a:r>
          </a:p>
          <a:p>
            <a:r>
              <a:rPr lang="es-ES_tradnl" sz="900" noProof="1"/>
              <a:t>World Health Organization (WHO). (2026). Global health estimates: Leading causes of DALYs. Www.who.int. https://www.who.int/data/gho/data/themes/mortality-and-global-health-estimates/global-health-estimates-leading-causes-of-dalys/</a:t>
            </a:r>
          </a:p>
          <a:p>
            <a:endParaRPr lang="es-ES_tradnl" sz="900" noProof="1"/>
          </a:p>
          <a:p>
            <a:endParaRPr lang="es-ES_tradnl" sz="9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706E1-C36A-A040-6FCE-0E7417E95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8AB19-EA94-4568-B8B9-4C0E0503AB06}" type="slidenum">
              <a:rPr lang="es-ES_tradnl" noProof="1" smtClean="0"/>
              <a:t>16</a:t>
            </a:fld>
            <a:endParaRPr lang="es-ES_tradnl" noProof="1"/>
          </a:p>
        </p:txBody>
      </p:sp>
    </p:spTree>
    <p:extLst>
      <p:ext uri="{BB962C8B-B14F-4D97-AF65-F5344CB8AC3E}">
        <p14:creationId xmlns:p14="http://schemas.microsoft.com/office/powerpoint/2010/main" val="3362920883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Office Them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1803</Words>
  <Application>Microsoft Office PowerPoint</Application>
  <PresentationFormat>Widescreen</PresentationFormat>
  <Paragraphs>146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Aptos ExtraBold</vt:lpstr>
      <vt:lpstr>Aptos Light</vt:lpstr>
      <vt:lpstr>Arial</vt:lpstr>
      <vt:lpstr>Lexend</vt:lpstr>
      <vt:lpstr>Office Theme</vt:lpstr>
      <vt:lpstr>DALYs De Enfermedades Tropicales Desatendidas Y Su Relación Con Variables Ambientales Y Socioeconómicas.</vt:lpstr>
      <vt:lpstr>Las Enfermedades Tropicales Desatendidas (NTDs) tienen mayor prevalencia en países en vías de desarrollo</vt:lpstr>
      <vt:lpstr>La carga de enfermedades se mide por medio de DALYs</vt:lpstr>
      <vt:lpstr>El cambio global está impulsando la emergencia de enfermedades infecciosas</vt:lpstr>
      <vt:lpstr>Conjunto de Datos</vt:lpstr>
      <vt:lpstr>PowerPoint Presentation</vt:lpstr>
      <vt:lpstr>Preguntas</vt:lpstr>
      <vt:lpstr>Ha habido una reducción en años recientes en la carga de NTDs.</vt:lpstr>
      <vt:lpstr>Las enfermedades más contribuyen son Malaria, Rabia y Dengue.</vt:lpstr>
      <vt:lpstr>Evolución de DALYs y las enfermedades que más contribuyen a la carga</vt:lpstr>
      <vt:lpstr>Los DALYs de manera importante con variables socioeconómicas. </vt:lpstr>
      <vt:lpstr>PowerPoint Presentation</vt:lpstr>
      <vt:lpstr>PowerPoint Presentation</vt:lpstr>
      <vt:lpstr>Las variables socioeconómicas explican en gran medida la varianza de los DALYs</vt:lpstr>
      <vt:lpstr>Conclusiones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ALBERTO CASTRO RODRIGUEZ</dc:creator>
  <cp:lastModifiedBy>JORGE ALBERTO CASTRO RODRIGUEZ</cp:lastModifiedBy>
  <cp:revision>10</cp:revision>
  <dcterms:created xsi:type="dcterms:W3CDTF">2026-05-30T04:08:41Z</dcterms:created>
  <dcterms:modified xsi:type="dcterms:W3CDTF">2026-06-05T05:31:49Z</dcterms:modified>
</cp:coreProperties>
</file>